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25603200" cy="36576000"/>
  <p:notesSz cx="6858000" cy="9144000"/>
  <p:defaultTextStyle>
    <a:defPPr>
      <a:defRPr lang="en-US"/>
    </a:defPPr>
    <a:lvl1pPr algn="l" rtl="0" eaLnBrk="0" fontAlgn="base" hangingPunct="0">
      <a:spcBef>
        <a:spcPct val="0"/>
      </a:spcBef>
      <a:spcAft>
        <a:spcPct val="0"/>
      </a:spcAft>
      <a:defRPr sz="70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70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70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70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70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70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70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70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7000"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1520">
          <p15:clr>
            <a:srgbClr val="A4A3A4"/>
          </p15:clr>
        </p15:guide>
        <p15:guide id="2" pos="806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F37"/>
    <a:srgbClr val="00FF00"/>
    <a:srgbClr val="00CC00"/>
    <a:srgbClr val="FFFF00"/>
    <a:srgbClr val="3366FF"/>
    <a:srgbClr val="B8F4AA"/>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AFCDDA-D6D6-B672-18B7-AEF6858E48F3}" v="469" dt="2025-04-16T02:21:29.873"/>
    <p1510:client id="{761EC81A-789F-BF47-9829-3E3D6753F9FC}" v="1157" dt="2025-04-16T03:12:10.543"/>
    <p1510:client id="{A04BE250-7D44-479B-5CBC-85956E0BB3C4}" v="676" dt="2025-04-15T21:49:21.126"/>
    <p1510:client id="{A43A732E-4E08-4C61-9609-51684C29D44E}" v="25" dt="2025-04-16T02:19:26.5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762" y="-6768"/>
      </p:cViewPr>
      <p:guideLst>
        <p:guide orient="horz" pos="11520"/>
        <p:guide pos="80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5797781-5E1D-40E7-8256-176505346E5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cs typeface="Arial" charset="0"/>
              </a:defRPr>
            </a:lvl1pPr>
          </a:lstStyle>
          <a:p>
            <a:pPr>
              <a:defRPr/>
            </a:pPr>
            <a:endParaRPr lang="en-US"/>
          </a:p>
        </p:txBody>
      </p:sp>
      <p:sp>
        <p:nvSpPr>
          <p:cNvPr id="3075" name="Rectangle 3">
            <a:extLst>
              <a:ext uri="{FF2B5EF4-FFF2-40B4-BE49-F238E27FC236}">
                <a16:creationId xmlns:a16="http://schemas.microsoft.com/office/drawing/2014/main" id="{9AE03380-C619-4844-90AF-9A5482844B46}"/>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cs typeface="Arial" charset="0"/>
              </a:defRPr>
            </a:lvl1pPr>
          </a:lstStyle>
          <a:p>
            <a:pPr>
              <a:defRPr/>
            </a:pPr>
            <a:endParaRPr lang="en-US"/>
          </a:p>
        </p:txBody>
      </p:sp>
      <p:sp>
        <p:nvSpPr>
          <p:cNvPr id="2052" name="Rectangle 4">
            <a:extLst>
              <a:ext uri="{FF2B5EF4-FFF2-40B4-BE49-F238E27FC236}">
                <a16:creationId xmlns:a16="http://schemas.microsoft.com/office/drawing/2014/main" id="{027AD31D-F646-415A-BDA9-BE59F44EBEBE}"/>
              </a:ext>
            </a:extLst>
          </p:cNvPr>
          <p:cNvSpPr>
            <a:spLocks noGrp="1" noRot="1" noChangeAspect="1" noChangeArrowheads="1" noTextEdit="1"/>
          </p:cNvSpPr>
          <p:nvPr>
            <p:ph type="sldImg" idx="2"/>
          </p:nvPr>
        </p:nvSpPr>
        <p:spPr bwMode="auto">
          <a:xfrm>
            <a:off x="2228850" y="685800"/>
            <a:ext cx="24003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516FF827-E976-4194-8B6F-032A2F1A4A7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74FB75C5-87B9-47BE-ADF3-97EFA49C2518}"/>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cs typeface="Arial" charset="0"/>
              </a:defRPr>
            </a:lvl1pPr>
          </a:lstStyle>
          <a:p>
            <a:pPr>
              <a:defRPr/>
            </a:pPr>
            <a:endParaRPr lang="en-US"/>
          </a:p>
        </p:txBody>
      </p:sp>
      <p:sp>
        <p:nvSpPr>
          <p:cNvPr id="3079" name="Rectangle 7">
            <a:extLst>
              <a:ext uri="{FF2B5EF4-FFF2-40B4-BE49-F238E27FC236}">
                <a16:creationId xmlns:a16="http://schemas.microsoft.com/office/drawing/2014/main" id="{0E6FFB15-35FD-47AB-8480-D12E776085F9}"/>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F3620151-E9AD-4460-B5F8-C7806EACB6C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74EAAE7C-27C8-4E62-B8E2-946028E467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8C042FD-A3EC-4CAF-96D8-F2DA50B059AE}" type="slidenum">
              <a:rPr lang="en-US" altLang="en-US"/>
              <a:pPr>
                <a:spcBef>
                  <a:spcPct val="0"/>
                </a:spcBef>
              </a:pPr>
              <a:t>1</a:t>
            </a:fld>
            <a:endParaRPr lang="en-US" altLang="en-US"/>
          </a:p>
        </p:txBody>
      </p:sp>
      <p:sp>
        <p:nvSpPr>
          <p:cNvPr id="4099" name="Rectangle 2">
            <a:extLst>
              <a:ext uri="{FF2B5EF4-FFF2-40B4-BE49-F238E27FC236}">
                <a16:creationId xmlns:a16="http://schemas.microsoft.com/office/drawing/2014/main" id="{40247113-F51A-4785-8EDF-C91D6DADACC5}"/>
              </a:ext>
            </a:extLst>
          </p:cNvPr>
          <p:cNvSpPr>
            <a:spLocks noGrp="1" noRot="1" noChangeAspect="1" noChangeArrowheads="1" noTextEdit="1"/>
          </p:cNvSpPr>
          <p:nvPr>
            <p:ph type="sldImg"/>
          </p:nvPr>
        </p:nvSpPr>
        <p:spPr>
          <a:ln/>
        </p:spPr>
      </p:sp>
      <p:sp>
        <p:nvSpPr>
          <p:cNvPr id="4100" name="Rectangle 3">
            <a:extLst>
              <a:ext uri="{FF2B5EF4-FFF2-40B4-BE49-F238E27FC236}">
                <a16:creationId xmlns:a16="http://schemas.microsoft.com/office/drawing/2014/main" id="{A7CC7E8A-FC86-4310-B2C9-DC0AF613F8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20875" y="11361738"/>
            <a:ext cx="21761450" cy="7840662"/>
          </a:xfrm>
        </p:spPr>
        <p:txBody>
          <a:bodyPr/>
          <a:lstStyle/>
          <a:p>
            <a:r>
              <a:rPr lang="en-US"/>
              <a:t>Click to edit Master title style</a:t>
            </a:r>
          </a:p>
        </p:txBody>
      </p:sp>
      <p:sp>
        <p:nvSpPr>
          <p:cNvPr id="3" name="Subtitle 2"/>
          <p:cNvSpPr>
            <a:spLocks noGrp="1"/>
          </p:cNvSpPr>
          <p:nvPr>
            <p:ph type="subTitle" idx="1"/>
          </p:nvPr>
        </p:nvSpPr>
        <p:spPr>
          <a:xfrm>
            <a:off x="3840163" y="20726400"/>
            <a:ext cx="17922875" cy="93472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8F771E19-B987-40D5-A1BF-883DFCA4DF2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D49AAE8-69F4-4DCA-902E-F646944A601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758A510-FA3E-4BAD-96A0-18C8C5CB9DEB}"/>
              </a:ext>
            </a:extLst>
          </p:cNvPr>
          <p:cNvSpPr>
            <a:spLocks noGrp="1" noChangeArrowheads="1"/>
          </p:cNvSpPr>
          <p:nvPr>
            <p:ph type="sldNum" sz="quarter" idx="12"/>
          </p:nvPr>
        </p:nvSpPr>
        <p:spPr>
          <a:ln/>
        </p:spPr>
        <p:txBody>
          <a:bodyPr/>
          <a:lstStyle>
            <a:lvl1pPr>
              <a:defRPr/>
            </a:lvl1pPr>
          </a:lstStyle>
          <a:p>
            <a:pPr>
              <a:defRPr/>
            </a:pPr>
            <a:fld id="{3A8D4B4C-1D2E-4701-A40F-917EAAAC1B97}" type="slidenum">
              <a:rPr lang="en-US" altLang="en-US"/>
              <a:pPr>
                <a:defRPr/>
              </a:pPr>
              <a:t>‹#›</a:t>
            </a:fld>
            <a:endParaRPr lang="en-US" altLang="en-US"/>
          </a:p>
        </p:txBody>
      </p:sp>
    </p:spTree>
    <p:extLst>
      <p:ext uri="{BB962C8B-B14F-4D97-AF65-F5344CB8AC3E}">
        <p14:creationId xmlns:p14="http://schemas.microsoft.com/office/powerpoint/2010/main" val="1879923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9E79B0F-EDE2-4CCA-BC3F-F96D606C21C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E554A08-3DDA-4641-A563-3A0066D1AD9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B567430-9A93-46D4-A465-59DA9E1BC884}"/>
              </a:ext>
            </a:extLst>
          </p:cNvPr>
          <p:cNvSpPr>
            <a:spLocks noGrp="1" noChangeArrowheads="1"/>
          </p:cNvSpPr>
          <p:nvPr>
            <p:ph type="sldNum" sz="quarter" idx="12"/>
          </p:nvPr>
        </p:nvSpPr>
        <p:spPr>
          <a:ln/>
        </p:spPr>
        <p:txBody>
          <a:bodyPr/>
          <a:lstStyle>
            <a:lvl1pPr>
              <a:defRPr/>
            </a:lvl1pPr>
          </a:lstStyle>
          <a:p>
            <a:pPr>
              <a:defRPr/>
            </a:pPr>
            <a:fld id="{0FD58104-ACFC-4D3D-8E04-8FC74A75557E}" type="slidenum">
              <a:rPr lang="en-US" altLang="en-US"/>
              <a:pPr>
                <a:defRPr/>
              </a:pPr>
              <a:t>‹#›</a:t>
            </a:fld>
            <a:endParaRPr lang="en-US" altLang="en-US"/>
          </a:p>
        </p:txBody>
      </p:sp>
    </p:spTree>
    <p:extLst>
      <p:ext uri="{BB962C8B-B14F-4D97-AF65-F5344CB8AC3E}">
        <p14:creationId xmlns:p14="http://schemas.microsoft.com/office/powerpoint/2010/main" val="3878917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22475" y="23502938"/>
            <a:ext cx="21763038" cy="72644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2022475" y="15501938"/>
            <a:ext cx="21763038" cy="80010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B6115133-6E00-48ED-B1EE-5816CEFF59E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B40AEC7-F001-45B8-8832-1778B5CAE67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ACD2F14-D5EB-4286-BB70-108B22816B51}"/>
              </a:ext>
            </a:extLst>
          </p:cNvPr>
          <p:cNvSpPr>
            <a:spLocks noGrp="1" noChangeArrowheads="1"/>
          </p:cNvSpPr>
          <p:nvPr>
            <p:ph type="sldNum" sz="quarter" idx="12"/>
          </p:nvPr>
        </p:nvSpPr>
        <p:spPr>
          <a:ln/>
        </p:spPr>
        <p:txBody>
          <a:bodyPr/>
          <a:lstStyle>
            <a:lvl1pPr>
              <a:defRPr/>
            </a:lvl1pPr>
          </a:lstStyle>
          <a:p>
            <a:pPr>
              <a:defRPr/>
            </a:pPr>
            <a:fld id="{A6F7347A-6848-4F84-875B-24AD22E03686}" type="slidenum">
              <a:rPr lang="en-US" altLang="en-US"/>
              <a:pPr>
                <a:defRPr/>
              </a:pPr>
              <a:t>‹#›</a:t>
            </a:fld>
            <a:endParaRPr lang="en-US" altLang="en-US"/>
          </a:p>
        </p:txBody>
      </p:sp>
    </p:spTree>
    <p:extLst>
      <p:ext uri="{BB962C8B-B14F-4D97-AF65-F5344CB8AC3E}">
        <p14:creationId xmlns:p14="http://schemas.microsoft.com/office/powerpoint/2010/main" val="2170422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79525" y="8534400"/>
            <a:ext cx="11445875" cy="241379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877800" y="8534400"/>
            <a:ext cx="11445875" cy="241379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A03608CD-9EF0-4AE7-A8F0-AA6F3ACF763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82365DE-766C-4DD6-A3D4-9F37E5DF89B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6488972-DABA-4F01-8482-42EAF90D74AA}"/>
              </a:ext>
            </a:extLst>
          </p:cNvPr>
          <p:cNvSpPr>
            <a:spLocks noGrp="1" noChangeArrowheads="1"/>
          </p:cNvSpPr>
          <p:nvPr>
            <p:ph type="sldNum" sz="quarter" idx="12"/>
          </p:nvPr>
        </p:nvSpPr>
        <p:spPr>
          <a:ln/>
        </p:spPr>
        <p:txBody>
          <a:bodyPr/>
          <a:lstStyle>
            <a:lvl1pPr>
              <a:defRPr/>
            </a:lvl1pPr>
          </a:lstStyle>
          <a:p>
            <a:pPr>
              <a:defRPr/>
            </a:pPr>
            <a:fld id="{D2ED10B5-E35C-47BC-ACA2-B1E976457125}" type="slidenum">
              <a:rPr lang="en-US" altLang="en-US"/>
              <a:pPr>
                <a:defRPr/>
              </a:pPr>
              <a:t>‹#›</a:t>
            </a:fld>
            <a:endParaRPr lang="en-US" altLang="en-US"/>
          </a:p>
        </p:txBody>
      </p:sp>
    </p:spTree>
    <p:extLst>
      <p:ext uri="{BB962C8B-B14F-4D97-AF65-F5344CB8AC3E}">
        <p14:creationId xmlns:p14="http://schemas.microsoft.com/office/powerpoint/2010/main" val="2122762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279525" y="8186738"/>
            <a:ext cx="11312525" cy="3413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79525" y="11599863"/>
            <a:ext cx="11312525" cy="2107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3006388" y="8186738"/>
            <a:ext cx="11317287" cy="3413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3006388" y="11599863"/>
            <a:ext cx="11317287" cy="2107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B02C4429-E68D-449F-A585-5659C508CD30}"/>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CB1E60EA-9B56-45FC-8D0F-94099E177C2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7219088E-FECE-44A1-AF45-9D37E5CB20F1}"/>
              </a:ext>
            </a:extLst>
          </p:cNvPr>
          <p:cNvSpPr>
            <a:spLocks noGrp="1" noChangeArrowheads="1"/>
          </p:cNvSpPr>
          <p:nvPr>
            <p:ph type="sldNum" sz="quarter" idx="12"/>
          </p:nvPr>
        </p:nvSpPr>
        <p:spPr>
          <a:ln/>
        </p:spPr>
        <p:txBody>
          <a:bodyPr/>
          <a:lstStyle>
            <a:lvl1pPr>
              <a:defRPr/>
            </a:lvl1pPr>
          </a:lstStyle>
          <a:p>
            <a:pPr>
              <a:defRPr/>
            </a:pPr>
            <a:fld id="{3A9CDA69-AF6F-460E-981F-3F57F0789943}" type="slidenum">
              <a:rPr lang="en-US" altLang="en-US"/>
              <a:pPr>
                <a:defRPr/>
              </a:pPr>
              <a:t>‹#›</a:t>
            </a:fld>
            <a:endParaRPr lang="en-US" altLang="en-US"/>
          </a:p>
        </p:txBody>
      </p:sp>
    </p:spTree>
    <p:extLst>
      <p:ext uri="{BB962C8B-B14F-4D97-AF65-F5344CB8AC3E}">
        <p14:creationId xmlns:p14="http://schemas.microsoft.com/office/powerpoint/2010/main" val="3917169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D12D9130-7A55-43D0-B254-C186570C29B8}"/>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5AACE6D-F085-4B3A-9359-7A4C28262D0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CCBD244C-909C-4399-912C-0A387227B696}"/>
              </a:ext>
            </a:extLst>
          </p:cNvPr>
          <p:cNvSpPr>
            <a:spLocks noGrp="1" noChangeArrowheads="1"/>
          </p:cNvSpPr>
          <p:nvPr>
            <p:ph type="sldNum" sz="quarter" idx="12"/>
          </p:nvPr>
        </p:nvSpPr>
        <p:spPr>
          <a:ln/>
        </p:spPr>
        <p:txBody>
          <a:bodyPr/>
          <a:lstStyle>
            <a:lvl1pPr>
              <a:defRPr/>
            </a:lvl1pPr>
          </a:lstStyle>
          <a:p>
            <a:pPr>
              <a:defRPr/>
            </a:pPr>
            <a:fld id="{8376910C-7A5F-4D10-9B39-84F7379BD70A}" type="slidenum">
              <a:rPr lang="en-US" altLang="en-US"/>
              <a:pPr>
                <a:defRPr/>
              </a:pPr>
              <a:t>‹#›</a:t>
            </a:fld>
            <a:endParaRPr lang="en-US" altLang="en-US"/>
          </a:p>
        </p:txBody>
      </p:sp>
    </p:spTree>
    <p:extLst>
      <p:ext uri="{BB962C8B-B14F-4D97-AF65-F5344CB8AC3E}">
        <p14:creationId xmlns:p14="http://schemas.microsoft.com/office/powerpoint/2010/main" val="2167438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DD8C311-192E-43F1-B9ED-3F156AAECA27}"/>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853845D4-5003-426B-A382-1130661DA24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2D09FCA7-9D96-4B50-A298-C132F1544C11}"/>
              </a:ext>
            </a:extLst>
          </p:cNvPr>
          <p:cNvSpPr>
            <a:spLocks noGrp="1" noChangeArrowheads="1"/>
          </p:cNvSpPr>
          <p:nvPr>
            <p:ph type="sldNum" sz="quarter" idx="12"/>
          </p:nvPr>
        </p:nvSpPr>
        <p:spPr>
          <a:ln/>
        </p:spPr>
        <p:txBody>
          <a:bodyPr/>
          <a:lstStyle>
            <a:lvl1pPr>
              <a:defRPr/>
            </a:lvl1pPr>
          </a:lstStyle>
          <a:p>
            <a:pPr>
              <a:defRPr/>
            </a:pPr>
            <a:fld id="{9CF54EE1-6472-4376-8895-3CE82E376A7A}" type="slidenum">
              <a:rPr lang="en-US" altLang="en-US"/>
              <a:pPr>
                <a:defRPr/>
              </a:pPr>
              <a:t>‹#›</a:t>
            </a:fld>
            <a:endParaRPr lang="en-US" altLang="en-US"/>
          </a:p>
        </p:txBody>
      </p:sp>
    </p:spTree>
    <p:extLst>
      <p:ext uri="{BB962C8B-B14F-4D97-AF65-F5344CB8AC3E}">
        <p14:creationId xmlns:p14="http://schemas.microsoft.com/office/powerpoint/2010/main" val="561483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79525" y="1455738"/>
            <a:ext cx="8423275" cy="61976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0010775" y="1455738"/>
            <a:ext cx="14312900" cy="31216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79525" y="7653338"/>
            <a:ext cx="8423275" cy="25019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5C60611-0DD9-4D44-982D-2DCA3D694AF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70B7ED8-2192-4062-AD5C-D2DB1DEDC07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1A582CF-8E9A-4D3A-BC5D-4260576C851E}"/>
              </a:ext>
            </a:extLst>
          </p:cNvPr>
          <p:cNvSpPr>
            <a:spLocks noGrp="1" noChangeArrowheads="1"/>
          </p:cNvSpPr>
          <p:nvPr>
            <p:ph type="sldNum" sz="quarter" idx="12"/>
          </p:nvPr>
        </p:nvSpPr>
        <p:spPr>
          <a:ln/>
        </p:spPr>
        <p:txBody>
          <a:bodyPr/>
          <a:lstStyle>
            <a:lvl1pPr>
              <a:defRPr/>
            </a:lvl1pPr>
          </a:lstStyle>
          <a:p>
            <a:pPr>
              <a:defRPr/>
            </a:pPr>
            <a:fld id="{2E9434D0-B31B-47ED-8D7F-F9C020725F08}" type="slidenum">
              <a:rPr lang="en-US" altLang="en-US"/>
              <a:pPr>
                <a:defRPr/>
              </a:pPr>
              <a:t>‹#›</a:t>
            </a:fld>
            <a:endParaRPr lang="en-US" altLang="en-US"/>
          </a:p>
        </p:txBody>
      </p:sp>
    </p:spTree>
    <p:extLst>
      <p:ext uri="{BB962C8B-B14F-4D97-AF65-F5344CB8AC3E}">
        <p14:creationId xmlns:p14="http://schemas.microsoft.com/office/powerpoint/2010/main" val="4022586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18088" y="25603200"/>
            <a:ext cx="15362237" cy="302260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5018088" y="3268663"/>
            <a:ext cx="15362237" cy="21945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5018088" y="28625800"/>
            <a:ext cx="15362237" cy="42926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338FA43-8E9D-4AFD-B643-99D1ACB3D43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118B97CE-9A53-48B1-8374-A61DE728A15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133A3703-8C1B-409B-B510-41BC03486F55}"/>
              </a:ext>
            </a:extLst>
          </p:cNvPr>
          <p:cNvSpPr>
            <a:spLocks noGrp="1" noChangeArrowheads="1"/>
          </p:cNvSpPr>
          <p:nvPr>
            <p:ph type="sldNum" sz="quarter" idx="12"/>
          </p:nvPr>
        </p:nvSpPr>
        <p:spPr>
          <a:ln/>
        </p:spPr>
        <p:txBody>
          <a:bodyPr/>
          <a:lstStyle>
            <a:lvl1pPr>
              <a:defRPr/>
            </a:lvl1pPr>
          </a:lstStyle>
          <a:p>
            <a:pPr>
              <a:defRPr/>
            </a:pPr>
            <a:fld id="{FD3DFA2B-B9A3-4925-A4B4-C9DFD440CEE9}" type="slidenum">
              <a:rPr lang="en-US" altLang="en-US"/>
              <a:pPr>
                <a:defRPr/>
              </a:pPr>
              <a:t>‹#›</a:t>
            </a:fld>
            <a:endParaRPr lang="en-US" altLang="en-US"/>
          </a:p>
        </p:txBody>
      </p:sp>
    </p:spTree>
    <p:extLst>
      <p:ext uri="{BB962C8B-B14F-4D97-AF65-F5344CB8AC3E}">
        <p14:creationId xmlns:p14="http://schemas.microsoft.com/office/powerpoint/2010/main" val="4236394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1958054-01A9-401E-A418-9E0E4AA4A80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FA060B5-00A8-4D6A-BBD4-BF50D21B099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03468A6-2A6D-4D01-8AEC-955BEC38F135}"/>
              </a:ext>
            </a:extLst>
          </p:cNvPr>
          <p:cNvSpPr>
            <a:spLocks noGrp="1" noChangeArrowheads="1"/>
          </p:cNvSpPr>
          <p:nvPr>
            <p:ph type="sldNum" sz="quarter" idx="12"/>
          </p:nvPr>
        </p:nvSpPr>
        <p:spPr>
          <a:ln/>
        </p:spPr>
        <p:txBody>
          <a:bodyPr/>
          <a:lstStyle>
            <a:lvl1pPr>
              <a:defRPr/>
            </a:lvl1pPr>
          </a:lstStyle>
          <a:p>
            <a:pPr>
              <a:defRPr/>
            </a:pPr>
            <a:fld id="{39DFAE16-A113-4396-B336-52FEFDAFB093}" type="slidenum">
              <a:rPr lang="en-US" altLang="en-US"/>
              <a:pPr>
                <a:defRPr/>
              </a:pPr>
              <a:t>‹#›</a:t>
            </a:fld>
            <a:endParaRPr lang="en-US" altLang="en-US"/>
          </a:p>
        </p:txBody>
      </p:sp>
    </p:spTree>
    <p:extLst>
      <p:ext uri="{BB962C8B-B14F-4D97-AF65-F5344CB8AC3E}">
        <p14:creationId xmlns:p14="http://schemas.microsoft.com/office/powerpoint/2010/main" val="252018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8562638" y="1465263"/>
            <a:ext cx="5761037" cy="31207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79525" y="1465263"/>
            <a:ext cx="17130713" cy="31207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029D2FA-A7EA-44F5-AF9E-C51CFD9EC4A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A2E0D75-3165-4608-BBDF-12DA8818873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57A804D-B9DF-4925-8263-CABEC3C267FF}"/>
              </a:ext>
            </a:extLst>
          </p:cNvPr>
          <p:cNvSpPr>
            <a:spLocks noGrp="1" noChangeArrowheads="1"/>
          </p:cNvSpPr>
          <p:nvPr>
            <p:ph type="sldNum" sz="quarter" idx="12"/>
          </p:nvPr>
        </p:nvSpPr>
        <p:spPr>
          <a:ln/>
        </p:spPr>
        <p:txBody>
          <a:bodyPr/>
          <a:lstStyle>
            <a:lvl1pPr>
              <a:defRPr/>
            </a:lvl1pPr>
          </a:lstStyle>
          <a:p>
            <a:pPr>
              <a:defRPr/>
            </a:pPr>
            <a:fld id="{D2A548F3-87A3-4380-901F-482A7CB50BB9}" type="slidenum">
              <a:rPr lang="en-US" altLang="en-US"/>
              <a:pPr>
                <a:defRPr/>
              </a:pPr>
              <a:t>‹#›</a:t>
            </a:fld>
            <a:endParaRPr lang="en-US" altLang="en-US"/>
          </a:p>
        </p:txBody>
      </p:sp>
    </p:spTree>
    <p:extLst>
      <p:ext uri="{BB962C8B-B14F-4D97-AF65-F5344CB8AC3E}">
        <p14:creationId xmlns:p14="http://schemas.microsoft.com/office/powerpoint/2010/main" val="1394213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DD300B7-0569-4DD3-ABD9-3A7FF01FBD72}"/>
              </a:ext>
            </a:extLst>
          </p:cNvPr>
          <p:cNvSpPr>
            <a:spLocks noGrp="1" noChangeArrowheads="1"/>
          </p:cNvSpPr>
          <p:nvPr>
            <p:ph type="title"/>
          </p:nvPr>
        </p:nvSpPr>
        <p:spPr bwMode="auto">
          <a:xfrm>
            <a:off x="1279525" y="1465263"/>
            <a:ext cx="2304415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55308" tIns="177654" rIns="355308" bIns="177654"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576FC2CD-E27B-4BF5-AFAD-87D4B4DD4C91}"/>
              </a:ext>
            </a:extLst>
          </p:cNvPr>
          <p:cNvSpPr>
            <a:spLocks noGrp="1" noChangeArrowheads="1"/>
          </p:cNvSpPr>
          <p:nvPr>
            <p:ph type="body" idx="1"/>
          </p:nvPr>
        </p:nvSpPr>
        <p:spPr bwMode="auto">
          <a:xfrm>
            <a:off x="1279525" y="8534400"/>
            <a:ext cx="23044150" cy="2413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55308" tIns="177654" rIns="355308" bIns="177654"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62495B6C-ECED-4486-94EB-EE7FEF2668E3}"/>
              </a:ext>
            </a:extLst>
          </p:cNvPr>
          <p:cNvSpPr>
            <a:spLocks noGrp="1" noChangeArrowheads="1"/>
          </p:cNvSpPr>
          <p:nvPr>
            <p:ph type="dt" sz="half" idx="2"/>
          </p:nvPr>
        </p:nvSpPr>
        <p:spPr bwMode="auto">
          <a:xfrm>
            <a:off x="1279525" y="33307338"/>
            <a:ext cx="5975350" cy="2540000"/>
          </a:xfrm>
          <a:prstGeom prst="rect">
            <a:avLst/>
          </a:prstGeom>
          <a:noFill/>
          <a:ln w="9525">
            <a:noFill/>
            <a:miter lim="800000"/>
            <a:headEnd/>
            <a:tailEnd/>
          </a:ln>
          <a:effectLst/>
        </p:spPr>
        <p:txBody>
          <a:bodyPr vert="horz" wrap="square" lIns="355308" tIns="177654" rIns="355308" bIns="177654" numCol="1" anchor="t" anchorCtr="0" compatLnSpc="1">
            <a:prstTxWarp prst="textNoShape">
              <a:avLst/>
            </a:prstTxWarp>
          </a:bodyPr>
          <a:lstStyle>
            <a:lvl1pPr eaLnBrk="1" hangingPunct="1">
              <a:defRPr sz="5400">
                <a:latin typeface="Arial" charset="0"/>
                <a:cs typeface="Arial" charset="0"/>
              </a:defRPr>
            </a:lvl1pPr>
          </a:lstStyle>
          <a:p>
            <a:pPr>
              <a:defRPr/>
            </a:pPr>
            <a:endParaRPr lang="en-US"/>
          </a:p>
        </p:txBody>
      </p:sp>
      <p:sp>
        <p:nvSpPr>
          <p:cNvPr id="1029" name="Rectangle 5">
            <a:extLst>
              <a:ext uri="{FF2B5EF4-FFF2-40B4-BE49-F238E27FC236}">
                <a16:creationId xmlns:a16="http://schemas.microsoft.com/office/drawing/2014/main" id="{3854E1A7-7E03-4EB0-8791-B528B3718424}"/>
              </a:ext>
            </a:extLst>
          </p:cNvPr>
          <p:cNvSpPr>
            <a:spLocks noGrp="1" noChangeArrowheads="1"/>
          </p:cNvSpPr>
          <p:nvPr>
            <p:ph type="ftr" sz="quarter" idx="3"/>
          </p:nvPr>
        </p:nvSpPr>
        <p:spPr bwMode="auto">
          <a:xfrm>
            <a:off x="8747125" y="33307338"/>
            <a:ext cx="8108950" cy="2540000"/>
          </a:xfrm>
          <a:prstGeom prst="rect">
            <a:avLst/>
          </a:prstGeom>
          <a:noFill/>
          <a:ln w="9525">
            <a:noFill/>
            <a:miter lim="800000"/>
            <a:headEnd/>
            <a:tailEnd/>
          </a:ln>
          <a:effectLst/>
        </p:spPr>
        <p:txBody>
          <a:bodyPr vert="horz" wrap="square" lIns="355308" tIns="177654" rIns="355308" bIns="177654" numCol="1" anchor="t" anchorCtr="0" compatLnSpc="1">
            <a:prstTxWarp prst="textNoShape">
              <a:avLst/>
            </a:prstTxWarp>
          </a:bodyPr>
          <a:lstStyle>
            <a:lvl1pPr algn="ctr" eaLnBrk="1" hangingPunct="1">
              <a:defRPr sz="5400">
                <a:latin typeface="Arial" charset="0"/>
                <a:cs typeface="Arial" charset="0"/>
              </a:defRPr>
            </a:lvl1pPr>
          </a:lstStyle>
          <a:p>
            <a:pPr>
              <a:defRPr/>
            </a:pPr>
            <a:endParaRPr lang="en-US"/>
          </a:p>
        </p:txBody>
      </p:sp>
      <p:sp>
        <p:nvSpPr>
          <p:cNvPr id="1030" name="Rectangle 6">
            <a:extLst>
              <a:ext uri="{FF2B5EF4-FFF2-40B4-BE49-F238E27FC236}">
                <a16:creationId xmlns:a16="http://schemas.microsoft.com/office/drawing/2014/main" id="{BEB98023-25C4-41AC-9818-AB83C8CBF370}"/>
              </a:ext>
            </a:extLst>
          </p:cNvPr>
          <p:cNvSpPr>
            <a:spLocks noGrp="1" noChangeArrowheads="1"/>
          </p:cNvSpPr>
          <p:nvPr>
            <p:ph type="sldNum" sz="quarter" idx="4"/>
          </p:nvPr>
        </p:nvSpPr>
        <p:spPr bwMode="auto">
          <a:xfrm>
            <a:off x="18348325" y="33307338"/>
            <a:ext cx="5975350" cy="2540000"/>
          </a:xfrm>
          <a:prstGeom prst="rect">
            <a:avLst/>
          </a:prstGeom>
          <a:noFill/>
          <a:ln w="9525">
            <a:noFill/>
            <a:miter lim="800000"/>
            <a:headEnd/>
            <a:tailEnd/>
          </a:ln>
          <a:effectLst/>
        </p:spPr>
        <p:txBody>
          <a:bodyPr vert="horz" wrap="square" lIns="355308" tIns="177654" rIns="355308" bIns="177654" numCol="1" anchor="t" anchorCtr="0" compatLnSpc="1">
            <a:prstTxWarp prst="textNoShape">
              <a:avLst/>
            </a:prstTxWarp>
          </a:bodyPr>
          <a:lstStyle>
            <a:lvl1pPr algn="r" eaLnBrk="1" hangingPunct="1">
              <a:defRPr sz="5400" smtClean="0"/>
            </a:lvl1pPr>
          </a:lstStyle>
          <a:p>
            <a:pPr>
              <a:defRPr/>
            </a:pPr>
            <a:fld id="{CDD72013-7C87-4322-922A-C4695583565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552825" rtl="0" eaLnBrk="0" fontAlgn="base" hangingPunct="0">
        <a:spcBef>
          <a:spcPct val="0"/>
        </a:spcBef>
        <a:spcAft>
          <a:spcPct val="0"/>
        </a:spcAft>
        <a:defRPr sz="17100">
          <a:solidFill>
            <a:schemeClr val="tx2"/>
          </a:solidFill>
          <a:latin typeface="+mj-lt"/>
          <a:ea typeface="+mj-ea"/>
          <a:cs typeface="+mj-cs"/>
        </a:defRPr>
      </a:lvl1pPr>
      <a:lvl2pPr algn="ctr" defTabSz="3552825" rtl="0" eaLnBrk="0" fontAlgn="base" hangingPunct="0">
        <a:spcBef>
          <a:spcPct val="0"/>
        </a:spcBef>
        <a:spcAft>
          <a:spcPct val="0"/>
        </a:spcAft>
        <a:defRPr sz="17100">
          <a:solidFill>
            <a:schemeClr val="tx2"/>
          </a:solidFill>
          <a:latin typeface="Arial" charset="0"/>
          <a:cs typeface="Arial" charset="0"/>
        </a:defRPr>
      </a:lvl2pPr>
      <a:lvl3pPr algn="ctr" defTabSz="3552825" rtl="0" eaLnBrk="0" fontAlgn="base" hangingPunct="0">
        <a:spcBef>
          <a:spcPct val="0"/>
        </a:spcBef>
        <a:spcAft>
          <a:spcPct val="0"/>
        </a:spcAft>
        <a:defRPr sz="17100">
          <a:solidFill>
            <a:schemeClr val="tx2"/>
          </a:solidFill>
          <a:latin typeface="Arial" charset="0"/>
          <a:cs typeface="Arial" charset="0"/>
        </a:defRPr>
      </a:lvl3pPr>
      <a:lvl4pPr algn="ctr" defTabSz="3552825" rtl="0" eaLnBrk="0" fontAlgn="base" hangingPunct="0">
        <a:spcBef>
          <a:spcPct val="0"/>
        </a:spcBef>
        <a:spcAft>
          <a:spcPct val="0"/>
        </a:spcAft>
        <a:defRPr sz="17100">
          <a:solidFill>
            <a:schemeClr val="tx2"/>
          </a:solidFill>
          <a:latin typeface="Arial" charset="0"/>
          <a:cs typeface="Arial" charset="0"/>
        </a:defRPr>
      </a:lvl4pPr>
      <a:lvl5pPr algn="ctr" defTabSz="3552825" rtl="0" eaLnBrk="0" fontAlgn="base" hangingPunct="0">
        <a:spcBef>
          <a:spcPct val="0"/>
        </a:spcBef>
        <a:spcAft>
          <a:spcPct val="0"/>
        </a:spcAft>
        <a:defRPr sz="17100">
          <a:solidFill>
            <a:schemeClr val="tx2"/>
          </a:solidFill>
          <a:latin typeface="Arial" charset="0"/>
          <a:cs typeface="Arial" charset="0"/>
        </a:defRPr>
      </a:lvl5pPr>
      <a:lvl6pPr marL="457200" algn="ctr" defTabSz="3552825" rtl="0" fontAlgn="base">
        <a:spcBef>
          <a:spcPct val="0"/>
        </a:spcBef>
        <a:spcAft>
          <a:spcPct val="0"/>
        </a:spcAft>
        <a:defRPr sz="17100">
          <a:solidFill>
            <a:schemeClr val="tx2"/>
          </a:solidFill>
          <a:latin typeface="Arial" charset="0"/>
          <a:cs typeface="Arial" charset="0"/>
        </a:defRPr>
      </a:lvl6pPr>
      <a:lvl7pPr marL="914400" algn="ctr" defTabSz="3552825" rtl="0" fontAlgn="base">
        <a:spcBef>
          <a:spcPct val="0"/>
        </a:spcBef>
        <a:spcAft>
          <a:spcPct val="0"/>
        </a:spcAft>
        <a:defRPr sz="17100">
          <a:solidFill>
            <a:schemeClr val="tx2"/>
          </a:solidFill>
          <a:latin typeface="Arial" charset="0"/>
          <a:cs typeface="Arial" charset="0"/>
        </a:defRPr>
      </a:lvl7pPr>
      <a:lvl8pPr marL="1371600" algn="ctr" defTabSz="3552825" rtl="0" fontAlgn="base">
        <a:spcBef>
          <a:spcPct val="0"/>
        </a:spcBef>
        <a:spcAft>
          <a:spcPct val="0"/>
        </a:spcAft>
        <a:defRPr sz="17100">
          <a:solidFill>
            <a:schemeClr val="tx2"/>
          </a:solidFill>
          <a:latin typeface="Arial" charset="0"/>
          <a:cs typeface="Arial" charset="0"/>
        </a:defRPr>
      </a:lvl8pPr>
      <a:lvl9pPr marL="1828800" algn="ctr" defTabSz="3552825" rtl="0" fontAlgn="base">
        <a:spcBef>
          <a:spcPct val="0"/>
        </a:spcBef>
        <a:spcAft>
          <a:spcPct val="0"/>
        </a:spcAft>
        <a:defRPr sz="17100">
          <a:solidFill>
            <a:schemeClr val="tx2"/>
          </a:solidFill>
          <a:latin typeface="Arial" charset="0"/>
          <a:cs typeface="Arial" charset="0"/>
        </a:defRPr>
      </a:lvl9pPr>
    </p:titleStyle>
    <p:bodyStyle>
      <a:lvl1pPr marL="1331913" indent="-1331913" algn="l" defTabSz="3552825" rtl="0" eaLnBrk="0" fontAlgn="base" hangingPunct="0">
        <a:spcBef>
          <a:spcPct val="20000"/>
        </a:spcBef>
        <a:spcAft>
          <a:spcPct val="0"/>
        </a:spcAft>
        <a:buChar char="•"/>
        <a:defRPr sz="12400">
          <a:solidFill>
            <a:schemeClr val="tx1"/>
          </a:solidFill>
          <a:latin typeface="+mn-lt"/>
          <a:ea typeface="+mn-ea"/>
          <a:cs typeface="+mn-cs"/>
        </a:defRPr>
      </a:lvl1pPr>
      <a:lvl2pPr marL="2887663" indent="-1111250" algn="l" defTabSz="3552825" rtl="0" eaLnBrk="0" fontAlgn="base" hangingPunct="0">
        <a:spcBef>
          <a:spcPct val="20000"/>
        </a:spcBef>
        <a:spcAft>
          <a:spcPct val="0"/>
        </a:spcAft>
        <a:buChar char="–"/>
        <a:defRPr sz="10900">
          <a:solidFill>
            <a:schemeClr val="tx1"/>
          </a:solidFill>
          <a:latin typeface="+mn-lt"/>
          <a:cs typeface="+mn-cs"/>
        </a:defRPr>
      </a:lvl2pPr>
      <a:lvl3pPr marL="4441825" indent="-889000" algn="l" defTabSz="3552825" rtl="0" eaLnBrk="0" fontAlgn="base" hangingPunct="0">
        <a:spcBef>
          <a:spcPct val="20000"/>
        </a:spcBef>
        <a:spcAft>
          <a:spcPct val="0"/>
        </a:spcAft>
        <a:buChar char="•"/>
        <a:defRPr sz="9300">
          <a:solidFill>
            <a:schemeClr val="tx1"/>
          </a:solidFill>
          <a:latin typeface="+mn-lt"/>
          <a:cs typeface="+mn-cs"/>
        </a:defRPr>
      </a:lvl3pPr>
      <a:lvl4pPr marL="6218238" indent="-889000" algn="l" defTabSz="3552825" rtl="0" eaLnBrk="0" fontAlgn="base" hangingPunct="0">
        <a:spcBef>
          <a:spcPct val="20000"/>
        </a:spcBef>
        <a:spcAft>
          <a:spcPct val="0"/>
        </a:spcAft>
        <a:buChar char="–"/>
        <a:defRPr sz="7800">
          <a:solidFill>
            <a:schemeClr val="tx1"/>
          </a:solidFill>
          <a:latin typeface="+mn-lt"/>
          <a:cs typeface="+mn-cs"/>
        </a:defRPr>
      </a:lvl4pPr>
      <a:lvl5pPr marL="7994650" indent="-889000" algn="l" defTabSz="3552825" rtl="0" eaLnBrk="0" fontAlgn="base" hangingPunct="0">
        <a:spcBef>
          <a:spcPct val="20000"/>
        </a:spcBef>
        <a:spcAft>
          <a:spcPct val="0"/>
        </a:spcAft>
        <a:buChar char="»"/>
        <a:defRPr sz="7800">
          <a:solidFill>
            <a:schemeClr val="tx1"/>
          </a:solidFill>
          <a:latin typeface="+mn-lt"/>
          <a:cs typeface="+mn-cs"/>
        </a:defRPr>
      </a:lvl5pPr>
      <a:lvl6pPr marL="8451850" indent="-889000" algn="l" defTabSz="3552825" rtl="0" fontAlgn="base">
        <a:spcBef>
          <a:spcPct val="20000"/>
        </a:spcBef>
        <a:spcAft>
          <a:spcPct val="0"/>
        </a:spcAft>
        <a:buChar char="»"/>
        <a:defRPr sz="7800">
          <a:solidFill>
            <a:schemeClr val="tx1"/>
          </a:solidFill>
          <a:latin typeface="+mn-lt"/>
          <a:cs typeface="+mn-cs"/>
        </a:defRPr>
      </a:lvl6pPr>
      <a:lvl7pPr marL="8909050" indent="-889000" algn="l" defTabSz="3552825" rtl="0" fontAlgn="base">
        <a:spcBef>
          <a:spcPct val="20000"/>
        </a:spcBef>
        <a:spcAft>
          <a:spcPct val="0"/>
        </a:spcAft>
        <a:buChar char="»"/>
        <a:defRPr sz="7800">
          <a:solidFill>
            <a:schemeClr val="tx1"/>
          </a:solidFill>
          <a:latin typeface="+mn-lt"/>
          <a:cs typeface="+mn-cs"/>
        </a:defRPr>
      </a:lvl7pPr>
      <a:lvl8pPr marL="9366250" indent="-889000" algn="l" defTabSz="3552825" rtl="0" fontAlgn="base">
        <a:spcBef>
          <a:spcPct val="20000"/>
        </a:spcBef>
        <a:spcAft>
          <a:spcPct val="0"/>
        </a:spcAft>
        <a:buChar char="»"/>
        <a:defRPr sz="7800">
          <a:solidFill>
            <a:schemeClr val="tx1"/>
          </a:solidFill>
          <a:latin typeface="+mn-lt"/>
          <a:cs typeface="+mn-cs"/>
        </a:defRPr>
      </a:lvl8pPr>
      <a:lvl9pPr marL="9823450" indent="-889000" algn="l" defTabSz="3552825" rtl="0" fontAlgn="base">
        <a:spcBef>
          <a:spcPct val="20000"/>
        </a:spcBef>
        <a:spcAft>
          <a:spcPct val="0"/>
        </a:spcAft>
        <a:buChar char="»"/>
        <a:defRPr sz="78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jpg"/><Relationship Id="rId5" Type="http://schemas.openxmlformats.org/officeDocument/2006/relationships/image" Target="../media/image3.jpeg"/><Relationship Id="rId10" Type="http://schemas.openxmlformats.org/officeDocument/2006/relationships/image" Target="../media/image8.jp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A332FE5-8494-4812-81B9-82A4EF44DAFA}"/>
              </a:ext>
            </a:extLst>
          </p:cNvPr>
          <p:cNvSpPr>
            <a:spLocks noGrp="1" noChangeArrowheads="1"/>
          </p:cNvSpPr>
          <p:nvPr>
            <p:ph type="title"/>
          </p:nvPr>
        </p:nvSpPr>
        <p:spPr>
          <a:xfrm>
            <a:off x="1348581" y="1180451"/>
            <a:ext cx="22906038" cy="2667000"/>
          </a:xfrm>
        </p:spPr>
        <p:txBody>
          <a:bodyPr/>
          <a:lstStyle/>
          <a:p>
            <a:pPr eaLnBrk="1" hangingPunct="1"/>
            <a:r>
              <a:rPr lang="en-US" sz="4000" b="1" kern="1200" dirty="0" err="1">
                <a:solidFill>
                  <a:schemeClr val="tx1"/>
                </a:solidFill>
                <a:latin typeface="Arial" panose="020B0604020202020204" pitchFamily="34" charset="0"/>
                <a:ea typeface="+mn-ea"/>
                <a:cs typeface="Arial" panose="020B0604020202020204" pitchFamily="34" charset="0"/>
              </a:rPr>
              <a:t>ProxiVault</a:t>
            </a:r>
            <a:r>
              <a:rPr lang="en-US" sz="4000" b="1" kern="1200" dirty="0">
                <a:solidFill>
                  <a:schemeClr val="tx1"/>
                </a:solidFill>
                <a:latin typeface="Arial" panose="020B0604020202020204" pitchFamily="34" charset="0"/>
                <a:ea typeface="+mn-ea"/>
                <a:cs typeface="Arial" panose="020B0604020202020204" pitchFamily="34" charset="0"/>
              </a:rPr>
              <a:t>: Where Movement Triggers Mayhem, Until You Scan In</a:t>
            </a:r>
            <a:endParaRPr lang="en-US" altLang="en-US" sz="4000" b="1" kern="1200" dirty="0">
              <a:solidFill>
                <a:schemeClr val="tx1"/>
              </a:solidFill>
              <a:latin typeface="Arial" panose="020B0604020202020204" pitchFamily="34" charset="0"/>
              <a:ea typeface="+mn-ea"/>
              <a:cs typeface="Arial" panose="020B0604020202020204" pitchFamily="34" charset="0"/>
            </a:endParaRPr>
          </a:p>
        </p:txBody>
      </p:sp>
      <p:sp>
        <p:nvSpPr>
          <p:cNvPr id="3075" name="Text Box 7">
            <a:extLst>
              <a:ext uri="{FF2B5EF4-FFF2-40B4-BE49-F238E27FC236}">
                <a16:creationId xmlns:a16="http://schemas.microsoft.com/office/drawing/2014/main" id="{13279C6E-924D-4612-A1BD-009514DC0173}"/>
              </a:ext>
            </a:extLst>
          </p:cNvPr>
          <p:cNvSpPr txBox="1">
            <a:spLocks noChangeArrowheads="1"/>
          </p:cNvSpPr>
          <p:nvPr/>
        </p:nvSpPr>
        <p:spPr bwMode="auto">
          <a:xfrm>
            <a:off x="1446239" y="6871109"/>
            <a:ext cx="11047412" cy="5630863"/>
          </a:xfrm>
          <a:prstGeom prst="rect">
            <a:avLst/>
          </a:prstGeom>
          <a:solidFill>
            <a:schemeClr val="bg1"/>
          </a:solidFill>
          <a:ln w="12700">
            <a:solidFill>
              <a:srgbClr val="B08F37"/>
            </a:solidFill>
            <a:miter lim="800000"/>
            <a:headEnd/>
            <a:tailEnd/>
          </a:ln>
        </p:spPr>
        <p:txBody>
          <a:bodyPr lIns="914400" tIns="457200" rIns="914400" bIns="914400" anchor="t"/>
          <a:lstStyle>
            <a:lvl1pPr>
              <a:spcBef>
                <a:spcPct val="20000"/>
              </a:spcBef>
              <a:buChar char="•"/>
              <a:tabLst>
                <a:tab pos="500063" algn="l"/>
              </a:tabLst>
              <a:defRPr sz="1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tabLst>
                <a:tab pos="500063" algn="l"/>
              </a:tabLst>
              <a:defRPr sz="109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tabLst>
                <a:tab pos="500063" algn="l"/>
              </a:tabLst>
              <a:defRPr sz="93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tabLst>
                <a:tab pos="500063" algn="l"/>
              </a:tabLst>
              <a:defRPr sz="78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tabLst>
                <a:tab pos="500063" algn="l"/>
              </a:tabLst>
              <a:defRPr sz="7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500063" algn="l"/>
              </a:tabLst>
              <a:defRPr sz="7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500063" algn="l"/>
              </a:tabLst>
              <a:defRPr sz="7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500063" algn="l"/>
              </a:tabLst>
              <a:defRPr sz="7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500063" algn="l"/>
              </a:tabLst>
              <a:defRPr sz="7800">
                <a:solidFill>
                  <a:schemeClr val="tx1"/>
                </a:solidFill>
                <a:latin typeface="Arial" panose="020B0604020202020204" pitchFamily="34" charset="0"/>
                <a:cs typeface="Arial" panose="020B0604020202020204" pitchFamily="34" charset="0"/>
              </a:defRPr>
            </a:lvl9pPr>
          </a:lstStyle>
          <a:p>
            <a:pPr algn="just" eaLnBrk="1" hangingPunct="1">
              <a:spcBef>
                <a:spcPct val="50000"/>
              </a:spcBef>
              <a:buFontTx/>
              <a:buNone/>
            </a:pPr>
            <a:r>
              <a:rPr lang="en-US" altLang="en-US" sz="4400" b="1" dirty="0"/>
              <a:t>Introduction</a:t>
            </a:r>
          </a:p>
          <a:p>
            <a:pPr>
              <a:buNone/>
            </a:pPr>
            <a:r>
              <a:rPr lang="en-US" sz="2400" dirty="0">
                <a:latin typeface="Times New Roman"/>
                <a:cs typeface="Arial"/>
              </a:rPr>
              <a:t>Want to get robbed? We didn’t think so! Meet </a:t>
            </a:r>
            <a:r>
              <a:rPr lang="en-US" sz="2400" dirty="0" err="1">
                <a:latin typeface="Times New Roman"/>
                <a:cs typeface="Arial"/>
              </a:rPr>
              <a:t>ProxiVault</a:t>
            </a:r>
            <a:r>
              <a:rPr lang="en-US" sz="2400" dirty="0">
                <a:latin typeface="Times New Roman"/>
                <a:cs typeface="Arial"/>
              </a:rPr>
              <a:t>, a high security, alarm equipped safe. The safe features a distance sensor, alarm, lighting display, key card access, and an LCD screen indicating what state the safe is in. The door is controlled by an RFID sensor which when applied with a proper scan,  will  The safe will perform these actions using the following coded equipment: 2 Servos, 1 Buzzer, 1 HC-SR04 Ultrasonic distance sensor, 9 LEDs,1 LCD Screen, 1 joystick, and 1 RFID. The front of the system will have a gauge controlled by a servo, measuring the distance. This alarm system can be applied in numerous real-world scenarios such as home security (jewelry, cash, and personal belongings), small business (cash protection), medical offices (drug, record protection), etc.</a:t>
            </a:r>
          </a:p>
          <a:p>
            <a:pPr>
              <a:buNone/>
            </a:pPr>
            <a:br>
              <a:rPr lang="en-US" sz="2400" dirty="0">
                <a:latin typeface="Times New Roman" panose="02020603050405020304" pitchFamily="18" charset="0"/>
              </a:rPr>
            </a:br>
            <a:br>
              <a:rPr lang="en-US" sz="2400" dirty="0">
                <a:latin typeface="Times New Roman" panose="02020603050405020304" pitchFamily="18" charset="0"/>
              </a:rPr>
            </a:br>
            <a:endParaRPr lang="en-US" altLang="en-US" sz="2400" dirty="0">
              <a:latin typeface="Times New Roman" panose="02020603050405020304" pitchFamily="18" charset="0"/>
            </a:endParaRPr>
          </a:p>
        </p:txBody>
      </p:sp>
      <p:sp>
        <p:nvSpPr>
          <p:cNvPr id="3076" name="Text Box 8">
            <a:extLst>
              <a:ext uri="{FF2B5EF4-FFF2-40B4-BE49-F238E27FC236}">
                <a16:creationId xmlns:a16="http://schemas.microsoft.com/office/drawing/2014/main" id="{9865DB79-882C-4572-96CB-EABCCADA0C7B}"/>
              </a:ext>
            </a:extLst>
          </p:cNvPr>
          <p:cNvSpPr txBox="1">
            <a:spLocks noChangeArrowheads="1"/>
          </p:cNvSpPr>
          <p:nvPr/>
        </p:nvSpPr>
        <p:spPr bwMode="auto">
          <a:xfrm>
            <a:off x="1425461" y="12707585"/>
            <a:ext cx="11047412" cy="19043784"/>
          </a:xfrm>
          <a:prstGeom prst="rect">
            <a:avLst/>
          </a:prstGeom>
          <a:solidFill>
            <a:schemeClr val="bg1"/>
          </a:solidFill>
          <a:ln w="12700">
            <a:solidFill>
              <a:srgbClr val="B08F37"/>
            </a:solidFill>
            <a:miter lim="800000"/>
            <a:headEnd/>
            <a:tailEnd/>
          </a:ln>
        </p:spPr>
        <p:txBody>
          <a:bodyPr lIns="914400" tIns="457200" rIns="914400" bIns="914400" anchor="t"/>
          <a:lstStyle>
            <a:lvl1pPr>
              <a:spcBef>
                <a:spcPct val="20000"/>
              </a:spcBef>
              <a:buChar char="•"/>
              <a:tabLst>
                <a:tab pos="508000" algn="l"/>
              </a:tabLst>
              <a:defRPr sz="1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tabLst>
                <a:tab pos="508000" algn="l"/>
              </a:tabLst>
              <a:defRPr sz="109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tabLst>
                <a:tab pos="508000" algn="l"/>
              </a:tabLst>
              <a:defRPr sz="93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tabLst>
                <a:tab pos="508000" algn="l"/>
              </a:tabLst>
              <a:defRPr sz="78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tabLst>
                <a:tab pos="508000" algn="l"/>
              </a:tabLst>
              <a:defRPr sz="7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508000" algn="l"/>
              </a:tabLst>
              <a:defRPr sz="7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508000" algn="l"/>
              </a:tabLst>
              <a:defRPr sz="7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508000" algn="l"/>
              </a:tabLst>
              <a:defRPr sz="7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508000" algn="l"/>
              </a:tabLst>
              <a:defRPr sz="7800">
                <a:solidFill>
                  <a:schemeClr val="tx1"/>
                </a:solidFill>
                <a:latin typeface="Arial" panose="020B0604020202020204" pitchFamily="34" charset="0"/>
                <a:cs typeface="Arial" panose="020B0604020202020204" pitchFamily="34" charset="0"/>
              </a:defRPr>
            </a:lvl9pPr>
          </a:lstStyle>
          <a:p>
            <a:pPr algn="just" eaLnBrk="1" hangingPunct="1">
              <a:spcBef>
                <a:spcPct val="50000"/>
              </a:spcBef>
              <a:buFontTx/>
              <a:buNone/>
            </a:pPr>
            <a:r>
              <a:rPr lang="en-US" altLang="en-US" sz="4400" b="1" dirty="0">
                <a:latin typeface="Arial"/>
                <a:cs typeface="Arial"/>
              </a:rPr>
              <a:t>Design</a:t>
            </a:r>
            <a:r>
              <a:rPr lang="en-US" altLang="en-US" sz="2400" dirty="0">
                <a:solidFill>
                  <a:srgbClr val="FF8000"/>
                </a:solidFill>
                <a:latin typeface="Arial"/>
                <a:cs typeface="Arial"/>
              </a:rPr>
              <a:t>	</a:t>
            </a:r>
            <a:endParaRPr lang="en-US" altLang="en-US" sz="2400" dirty="0">
              <a:latin typeface="Arial"/>
              <a:cs typeface="Arial"/>
            </a:endParaRPr>
          </a:p>
          <a:p>
            <a:pPr algn="just" eaLnBrk="1" hangingPunct="1">
              <a:spcBef>
                <a:spcPct val="10000"/>
              </a:spcBef>
              <a:buNone/>
            </a:pPr>
            <a:r>
              <a:rPr lang="en-US" altLang="en-US" sz="2400" dirty="0">
                <a:latin typeface="Times New Roman"/>
                <a:cs typeface="Arial"/>
              </a:rPr>
              <a:t>  </a:t>
            </a:r>
            <a:r>
              <a:rPr lang="en-US" altLang="en-US" sz="2400" dirty="0" err="1">
                <a:latin typeface="Times New Roman"/>
                <a:cs typeface="Arial"/>
              </a:rPr>
              <a:t>ProxiVault</a:t>
            </a:r>
            <a:r>
              <a:rPr lang="en-US" altLang="en-US" sz="2400" dirty="0">
                <a:latin typeface="Times New Roman"/>
                <a:cs typeface="Arial"/>
              </a:rPr>
              <a:t> is built out of wooden planks and panels whose dimensions are 12" long, 16" wide and 12" in height. The framework is wood glued together and parts of the wood are cut out to accommodate the placement of the electrical and mechanical components. </a:t>
            </a:r>
          </a:p>
          <a:p>
            <a:pPr algn="just" eaLnBrk="1" hangingPunct="1">
              <a:spcBef>
                <a:spcPct val="10000"/>
              </a:spcBef>
              <a:buFontTx/>
              <a:buNone/>
            </a:pPr>
            <a:endParaRPr lang="en-US" altLang="en-US" sz="2400" dirty="0">
              <a:latin typeface="Times New Roman" panose="02020603050405020304" pitchFamily="18" charset="0"/>
            </a:endParaRPr>
          </a:p>
          <a:p>
            <a:pPr algn="just">
              <a:spcBef>
                <a:spcPct val="10000"/>
              </a:spcBef>
              <a:buFontTx/>
              <a:buNone/>
            </a:pPr>
            <a:endParaRPr lang="en-US" altLang="en-US" sz="2400" dirty="0">
              <a:latin typeface="Times New Roman" panose="02020603050405020304" pitchFamily="18" charset="0"/>
            </a:endParaRPr>
          </a:p>
          <a:p>
            <a:pPr algn="just">
              <a:spcBef>
                <a:spcPct val="10000"/>
              </a:spcBef>
              <a:buFontTx/>
              <a:buNone/>
            </a:pPr>
            <a:endParaRPr lang="en-US" altLang="en-US" sz="2400" dirty="0">
              <a:latin typeface="Times New Roman" panose="02020603050405020304" pitchFamily="18" charset="0"/>
            </a:endParaRPr>
          </a:p>
          <a:p>
            <a:pPr eaLnBrk="1" hangingPunct="1">
              <a:spcBef>
                <a:spcPct val="10000"/>
              </a:spcBef>
              <a:buFontTx/>
              <a:buNone/>
            </a:pPr>
            <a:endParaRPr lang="en-US" altLang="en-US" sz="2400" dirty="0">
              <a:latin typeface="Times New Roman" panose="02020603050405020304" pitchFamily="18" charset="0"/>
            </a:endParaRPr>
          </a:p>
          <a:p>
            <a:pPr eaLnBrk="1" hangingPunct="1">
              <a:spcBef>
                <a:spcPct val="10000"/>
              </a:spcBef>
              <a:buFontTx/>
              <a:buNone/>
            </a:pPr>
            <a:endParaRPr lang="en-US" altLang="en-US" sz="2400" dirty="0">
              <a:latin typeface="Times New Roman" panose="02020603050405020304" pitchFamily="18" charset="0"/>
            </a:endParaRPr>
          </a:p>
          <a:p>
            <a:pPr eaLnBrk="1" hangingPunct="1">
              <a:spcBef>
                <a:spcPct val="10000"/>
              </a:spcBef>
              <a:buFontTx/>
              <a:buNone/>
            </a:pPr>
            <a:endParaRPr lang="en-US" altLang="en-US" sz="2400" dirty="0">
              <a:latin typeface="Times New Roman" panose="02020603050405020304" pitchFamily="18" charset="0"/>
            </a:endParaRPr>
          </a:p>
          <a:p>
            <a:pPr eaLnBrk="1" hangingPunct="1">
              <a:spcBef>
                <a:spcPct val="10000"/>
              </a:spcBef>
              <a:buFontTx/>
              <a:buNone/>
            </a:pPr>
            <a:endParaRPr lang="en-US" altLang="en-US" sz="2400" dirty="0">
              <a:latin typeface="Times New Roman" panose="02020603050405020304" pitchFamily="18" charset="0"/>
            </a:endParaRPr>
          </a:p>
          <a:p>
            <a:pPr eaLnBrk="1" hangingPunct="1">
              <a:spcBef>
                <a:spcPct val="10000"/>
              </a:spcBef>
              <a:buFontTx/>
              <a:buNone/>
            </a:pPr>
            <a:endParaRPr lang="en-US" altLang="en-US" sz="2400" dirty="0">
              <a:latin typeface="Times New Roman" panose="02020603050405020304" pitchFamily="18" charset="0"/>
            </a:endParaRPr>
          </a:p>
          <a:p>
            <a:pPr algn="ctr" eaLnBrk="1" hangingPunct="1">
              <a:spcBef>
                <a:spcPct val="10000"/>
              </a:spcBef>
              <a:buFontTx/>
              <a:buNone/>
            </a:pPr>
            <a:endParaRPr lang="en-US" altLang="en-US" sz="2400" b="1" dirty="0">
              <a:latin typeface="Times New Roman" panose="02020603050405020304" pitchFamily="18" charset="0"/>
            </a:endParaRPr>
          </a:p>
          <a:p>
            <a:pPr algn="ctr" eaLnBrk="1" hangingPunct="1">
              <a:spcBef>
                <a:spcPct val="10000"/>
              </a:spcBef>
              <a:buFontTx/>
              <a:buNone/>
            </a:pPr>
            <a:endParaRPr lang="en-US" altLang="en-US" sz="2400" b="1" dirty="0">
              <a:latin typeface="Times New Roman" panose="02020603050405020304" pitchFamily="18" charset="0"/>
            </a:endParaRPr>
          </a:p>
          <a:p>
            <a:pPr algn="ctr" eaLnBrk="1" hangingPunct="1">
              <a:spcBef>
                <a:spcPct val="10000"/>
              </a:spcBef>
              <a:buFontTx/>
              <a:buNone/>
            </a:pPr>
            <a:endParaRPr lang="en-US" altLang="en-US" sz="2400" b="1" dirty="0">
              <a:latin typeface="Times New Roman" panose="02020603050405020304" pitchFamily="18" charset="0"/>
            </a:endParaRPr>
          </a:p>
          <a:p>
            <a:pPr algn="ctr" eaLnBrk="1" hangingPunct="1">
              <a:spcBef>
                <a:spcPct val="10000"/>
              </a:spcBef>
              <a:buNone/>
            </a:pPr>
            <a:r>
              <a:rPr lang="en-US" altLang="en-US" sz="2400" b="1" dirty="0">
                <a:latin typeface="Times New Roman"/>
                <a:cs typeface="Arial"/>
              </a:rPr>
              <a:t>Figure 2: Electrical Configuration</a:t>
            </a:r>
          </a:p>
          <a:p>
            <a:pPr>
              <a:spcBef>
                <a:spcPct val="10000"/>
              </a:spcBef>
              <a:buNone/>
            </a:pPr>
            <a:r>
              <a:rPr lang="en-US" altLang="en-US" sz="2400" dirty="0">
                <a:latin typeface="Times New Roman"/>
                <a:cs typeface="Arial"/>
              </a:rPr>
              <a:t>  Figure 2 displays how the electrical components are used on and in the box. The ultra sonic buzzer on the side is used to alarm the intruder and everyone near. The LCD is used to display the state, while also paring with a lighting color. The lights work in a set of three colors: green, yellow and red -- which light up based on the distances detected. The RFID is used to disarm the system and unlock the box, which is functioned by a servo inside pulling on a lack to unlock. As well as a servo displaying distance above the LCD.</a:t>
            </a:r>
            <a:r>
              <a:rPr lang="en-US" altLang="en-US" sz="2400" b="1" dirty="0">
                <a:latin typeface="Times New Roman"/>
                <a:cs typeface="Arial"/>
              </a:rPr>
              <a:t> </a:t>
            </a:r>
            <a:r>
              <a:rPr lang="en-US" altLang="en-US" sz="2400" dirty="0">
                <a:latin typeface="Times New Roman"/>
                <a:cs typeface="Arial"/>
              </a:rPr>
              <a:t>The button will be placed on the outside, when pressed rearming the system.</a:t>
            </a:r>
            <a:endParaRPr lang="en-US" dirty="0"/>
          </a:p>
          <a:p>
            <a:pPr algn="just" eaLnBrk="1" hangingPunct="1">
              <a:spcBef>
                <a:spcPct val="10000"/>
              </a:spcBef>
              <a:buFontTx/>
              <a:buNone/>
            </a:pPr>
            <a:endParaRPr lang="en-US" altLang="en-US" sz="2400" dirty="0">
              <a:latin typeface="Times New Roman" panose="02020603050405020304" pitchFamily="18" charset="0"/>
            </a:endParaRPr>
          </a:p>
          <a:p>
            <a:pPr algn="just">
              <a:spcBef>
                <a:spcPct val="10000"/>
              </a:spcBef>
              <a:buNone/>
            </a:pPr>
            <a:endParaRPr lang="en-US" altLang="en-US" sz="2400" dirty="0">
              <a:latin typeface="Times New Roman"/>
              <a:cs typeface="Arial"/>
            </a:endParaRPr>
          </a:p>
          <a:p>
            <a:pPr algn="just">
              <a:spcBef>
                <a:spcPct val="10000"/>
              </a:spcBef>
              <a:buNone/>
            </a:pPr>
            <a:endParaRPr lang="en-US" altLang="en-US" sz="2400" dirty="0">
              <a:latin typeface="Times New Roman"/>
              <a:cs typeface="Arial"/>
            </a:endParaRPr>
          </a:p>
          <a:p>
            <a:pPr algn="just">
              <a:spcBef>
                <a:spcPct val="10000"/>
              </a:spcBef>
              <a:buNone/>
            </a:pPr>
            <a:endParaRPr lang="en-US" altLang="en-US" sz="2400" dirty="0">
              <a:latin typeface="Times New Roman"/>
              <a:cs typeface="Arial"/>
            </a:endParaRPr>
          </a:p>
          <a:p>
            <a:pPr algn="just">
              <a:spcBef>
                <a:spcPct val="10000"/>
              </a:spcBef>
              <a:buNone/>
            </a:pPr>
            <a:endParaRPr lang="en-US" altLang="en-US" sz="2400" dirty="0">
              <a:latin typeface="Times New Roman"/>
              <a:cs typeface="Arial"/>
            </a:endParaRPr>
          </a:p>
          <a:p>
            <a:pPr algn="just">
              <a:spcBef>
                <a:spcPct val="10000"/>
              </a:spcBef>
              <a:buNone/>
            </a:pPr>
            <a:endParaRPr lang="en-US" altLang="en-US" sz="2400" dirty="0">
              <a:latin typeface="Times New Roman"/>
              <a:cs typeface="Arial"/>
            </a:endParaRPr>
          </a:p>
          <a:p>
            <a:pPr algn="just">
              <a:spcBef>
                <a:spcPct val="10000"/>
              </a:spcBef>
              <a:buNone/>
            </a:pPr>
            <a:endParaRPr lang="en-US" altLang="en-US" sz="2400" dirty="0">
              <a:latin typeface="Times New Roman"/>
              <a:cs typeface="Arial"/>
            </a:endParaRPr>
          </a:p>
          <a:p>
            <a:pPr algn="just">
              <a:spcBef>
                <a:spcPct val="10000"/>
              </a:spcBef>
              <a:buNone/>
            </a:pPr>
            <a:endParaRPr lang="en-US" altLang="en-US" sz="2400" dirty="0">
              <a:latin typeface="Times New Roman"/>
              <a:cs typeface="Arial"/>
            </a:endParaRPr>
          </a:p>
          <a:p>
            <a:pPr algn="just">
              <a:spcBef>
                <a:spcPct val="10000"/>
              </a:spcBef>
              <a:buNone/>
            </a:pPr>
            <a:endParaRPr lang="en-US" altLang="en-US" sz="2400" dirty="0">
              <a:latin typeface="Times New Roman"/>
              <a:cs typeface="Arial"/>
            </a:endParaRPr>
          </a:p>
          <a:p>
            <a:pPr algn="just">
              <a:spcBef>
                <a:spcPct val="10000"/>
              </a:spcBef>
              <a:buNone/>
            </a:pPr>
            <a:endParaRPr lang="en-US" altLang="en-US" sz="2400" dirty="0">
              <a:latin typeface="Times New Roman"/>
              <a:cs typeface="Arial"/>
            </a:endParaRPr>
          </a:p>
          <a:p>
            <a:pPr algn="ctr">
              <a:spcBef>
                <a:spcPct val="10000"/>
              </a:spcBef>
              <a:buNone/>
            </a:pPr>
            <a:endParaRPr lang="en-US" altLang="en-US" sz="2400" b="1" dirty="0">
              <a:latin typeface="Times New Roman"/>
              <a:cs typeface="Arial"/>
            </a:endParaRPr>
          </a:p>
          <a:p>
            <a:pPr algn="ctr">
              <a:spcBef>
                <a:spcPct val="10000"/>
              </a:spcBef>
              <a:buNone/>
            </a:pPr>
            <a:r>
              <a:rPr lang="en-US" altLang="en-US" sz="2400" b="1" dirty="0">
                <a:latin typeface="Times New Roman"/>
                <a:cs typeface="Arial"/>
              </a:rPr>
              <a:t>Figure 3: State Machine</a:t>
            </a:r>
            <a:endParaRPr lang="en-US" dirty="0"/>
          </a:p>
          <a:p>
            <a:pPr algn="just" eaLnBrk="1" hangingPunct="1">
              <a:spcBef>
                <a:spcPct val="10000"/>
              </a:spcBef>
              <a:buNone/>
            </a:pPr>
            <a:r>
              <a:rPr lang="en-US" altLang="en-US" sz="2400" dirty="0">
                <a:latin typeface="Times New Roman"/>
                <a:cs typeface="Arial"/>
              </a:rPr>
              <a:t>  Figure 3 displays the state machine used to demonstrate the process of the safe. State 1 </a:t>
            </a:r>
            <a:r>
              <a:rPr lang="en-US" sz="2400" dirty="0">
                <a:latin typeface="Times New Roman"/>
                <a:cs typeface="Arial"/>
              </a:rPr>
              <a:t>detects motion with an ultrasonic sensor, activating LEDs, a buzzer, a gauge servo based on proximity, and a latch servo via RFID while the LCD displays “Stand by.” In State 2, motion is detected near the safe, triggering flashing LEDs, a max-frequency buzzer, a fully extended gauge servo, a locked latch servo, and an LCD prompting to "Scan RFID To Disarm.” In State 3, After a successful RFID scan, the system shuts down all alerts, resets the gauge servo, unlocks the latch, and the LCD displays “Access Granted.”</a:t>
            </a:r>
          </a:p>
          <a:p>
            <a:pPr algn="just">
              <a:spcBef>
                <a:spcPct val="10000"/>
              </a:spcBef>
              <a:buNone/>
            </a:pPr>
            <a:endParaRPr lang="en-US" sz="2400" dirty="0">
              <a:latin typeface="Times New Roman"/>
              <a:cs typeface="Arial"/>
            </a:endParaRPr>
          </a:p>
          <a:p>
            <a:pPr algn="just">
              <a:spcBef>
                <a:spcPct val="10000"/>
              </a:spcBef>
              <a:buNone/>
            </a:pPr>
            <a:endParaRPr lang="en-US" sz="2400" dirty="0">
              <a:latin typeface="Times New Roman"/>
              <a:cs typeface="Arial"/>
            </a:endParaRPr>
          </a:p>
        </p:txBody>
      </p:sp>
      <mc:AlternateContent xmlns:mc="http://schemas.openxmlformats.org/markup-compatibility/2006">
        <mc:Choice xmlns:a14="http://schemas.microsoft.com/office/drawing/2010/main" Requires="a14">
          <p:sp>
            <p:nvSpPr>
              <p:cNvPr id="3077" name="Text Box 9">
                <a:extLst>
                  <a:ext uri="{FF2B5EF4-FFF2-40B4-BE49-F238E27FC236}">
                    <a16:creationId xmlns:a16="http://schemas.microsoft.com/office/drawing/2014/main" id="{AD507E20-DFF8-43DC-8D58-B09D6BB6C6D9}"/>
                  </a:ext>
                </a:extLst>
              </p:cNvPr>
              <p:cNvSpPr txBox="1">
                <a:spLocks noChangeArrowheads="1"/>
              </p:cNvSpPr>
              <p:nvPr/>
            </p:nvSpPr>
            <p:spPr bwMode="auto">
              <a:xfrm>
                <a:off x="13666787" y="6889179"/>
                <a:ext cx="10512425" cy="24647269"/>
              </a:xfrm>
              <a:prstGeom prst="rect">
                <a:avLst/>
              </a:prstGeom>
              <a:solidFill>
                <a:schemeClr val="bg1"/>
              </a:solidFill>
              <a:ln w="12700">
                <a:solidFill>
                  <a:srgbClr val="B08F37"/>
                </a:solidFill>
                <a:miter lim="800000"/>
                <a:headEnd/>
                <a:tailEnd/>
              </a:ln>
            </p:spPr>
            <p:txBody>
              <a:bodyPr lIns="914400" tIns="457200" rIns="914400" bIns="914400" anchor="t"/>
              <a:lstStyle>
                <a:lvl1pPr>
                  <a:spcBef>
                    <a:spcPct val="20000"/>
                  </a:spcBef>
                  <a:buChar char="•"/>
                  <a:tabLst>
                    <a:tab pos="500063" algn="l"/>
                  </a:tabLst>
                  <a:defRPr sz="1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tabLst>
                    <a:tab pos="500063" algn="l"/>
                  </a:tabLst>
                  <a:defRPr sz="109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tabLst>
                    <a:tab pos="500063" algn="l"/>
                  </a:tabLst>
                  <a:defRPr sz="93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tabLst>
                    <a:tab pos="500063" algn="l"/>
                  </a:tabLst>
                  <a:defRPr sz="78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tabLst>
                    <a:tab pos="500063" algn="l"/>
                  </a:tabLst>
                  <a:defRPr sz="7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500063" algn="l"/>
                  </a:tabLst>
                  <a:defRPr sz="7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500063" algn="l"/>
                  </a:tabLst>
                  <a:defRPr sz="7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500063" algn="l"/>
                  </a:tabLst>
                  <a:defRPr sz="7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500063" algn="l"/>
                  </a:tabLst>
                  <a:defRPr sz="7800">
                    <a:solidFill>
                      <a:schemeClr val="tx1"/>
                    </a:solidFill>
                    <a:latin typeface="Arial" panose="020B0604020202020204" pitchFamily="34" charset="0"/>
                    <a:cs typeface="Arial" panose="020B0604020202020204" pitchFamily="34" charset="0"/>
                  </a:defRPr>
                </a:lvl9pPr>
              </a:lstStyle>
              <a:p>
                <a:pPr algn="just" eaLnBrk="1" hangingPunct="1">
                  <a:spcBef>
                    <a:spcPct val="0"/>
                  </a:spcBef>
                  <a:buFontTx/>
                  <a:buNone/>
                </a:pPr>
                <a:r>
                  <a:rPr lang="en-US" altLang="en-US" sz="4400" b="1" dirty="0">
                    <a:latin typeface="Arial"/>
                    <a:cs typeface="Arial"/>
                  </a:rPr>
                  <a:t>Results</a:t>
                </a:r>
              </a:p>
              <a:p>
                <a:pPr algn="just">
                  <a:spcBef>
                    <a:spcPct val="10000"/>
                  </a:spcBef>
                  <a:buNone/>
                </a:pPr>
                <a:r>
                  <a:rPr lang="en-US" altLang="en-US" sz="2400" dirty="0">
                    <a:latin typeface="Times New Roman"/>
                    <a:cs typeface="Arial"/>
                  </a:rPr>
                  <a:t>After completed construction of </a:t>
                </a:r>
                <a:r>
                  <a:rPr lang="en-US" altLang="en-US" sz="2400" dirty="0" err="1">
                    <a:latin typeface="Times New Roman"/>
                    <a:cs typeface="Arial"/>
                  </a:rPr>
                  <a:t>ProxiVault</a:t>
                </a:r>
                <a:r>
                  <a:rPr lang="en-US" altLang="en-US" sz="2400" dirty="0">
                    <a:latin typeface="Times New Roman"/>
                    <a:cs typeface="Arial"/>
                  </a:rPr>
                  <a:t> we deemed the project and process as a success. The vault acts exactly as it had been programmed and works as a functional safe.</a:t>
                </a:r>
                <a:endParaRPr lang="en-US" altLang="en-US" sz="2400" dirty="0">
                  <a:latin typeface="Times New Roman"/>
                </a:endParaRPr>
              </a:p>
              <a:p>
                <a:pPr algn="just" eaLnBrk="1" hangingPunct="1">
                  <a:spcBef>
                    <a:spcPct val="10000"/>
                  </a:spcBef>
                  <a:buFontTx/>
                  <a:buNone/>
                </a:pPr>
                <a:endParaRPr lang="en-US" altLang="en-US" sz="2400" dirty="0">
                  <a:latin typeface="Times New Roman" panose="02020603050405020304" pitchFamily="18" charset="0"/>
                </a:endParaRPr>
              </a:p>
              <a:p>
                <a:pPr algn="just" eaLnBrk="1" hangingPunct="1">
                  <a:spcBef>
                    <a:spcPct val="10000"/>
                  </a:spcBef>
                  <a:buFontTx/>
                  <a:buNone/>
                </a:pPr>
                <a:endParaRPr lang="en-US" altLang="en-US" sz="2400" dirty="0">
                  <a:latin typeface="Times New Roman" panose="02020603050405020304" pitchFamily="18" charset="0"/>
                </a:endParaRPr>
              </a:p>
              <a:p>
                <a:pPr algn="just" eaLnBrk="1" hangingPunct="1">
                  <a:spcBef>
                    <a:spcPct val="10000"/>
                  </a:spcBef>
                  <a:buFontTx/>
                  <a:buNone/>
                </a:pPr>
                <a:endParaRPr lang="en-US" altLang="en-US" sz="2400" dirty="0">
                  <a:latin typeface="Times New Roman" panose="02020603050405020304" pitchFamily="18" charset="0"/>
                </a:endParaRPr>
              </a:p>
              <a:p>
                <a:pPr algn="just" eaLnBrk="1" hangingPunct="1">
                  <a:spcBef>
                    <a:spcPct val="10000"/>
                  </a:spcBef>
                  <a:buFontTx/>
                  <a:buNone/>
                </a:pPr>
                <a:endParaRPr lang="en-US" altLang="en-US" sz="2400" dirty="0">
                  <a:latin typeface="Times New Roman" panose="02020603050405020304" pitchFamily="18" charset="0"/>
                </a:endParaRPr>
              </a:p>
              <a:p>
                <a:pPr algn="just" eaLnBrk="1" hangingPunct="1">
                  <a:spcBef>
                    <a:spcPct val="10000"/>
                  </a:spcBef>
                  <a:buFontTx/>
                  <a:buNone/>
                </a:pPr>
                <a:endParaRPr lang="en-US" altLang="en-US" sz="2400" dirty="0">
                  <a:latin typeface="Times New Roman" panose="02020603050405020304" pitchFamily="18" charset="0"/>
                </a:endParaRPr>
              </a:p>
              <a:p>
                <a:pPr algn="just" eaLnBrk="1" hangingPunct="1">
                  <a:spcBef>
                    <a:spcPct val="10000"/>
                  </a:spcBef>
                  <a:buFontTx/>
                  <a:buNone/>
                </a:pPr>
                <a:endParaRPr lang="en-US" altLang="en-US" sz="2400" dirty="0">
                  <a:latin typeface="Times New Roman" panose="02020603050405020304" pitchFamily="18" charset="0"/>
                </a:endParaRPr>
              </a:p>
              <a:p>
                <a:pPr algn="just" eaLnBrk="1" hangingPunct="1">
                  <a:spcBef>
                    <a:spcPct val="10000"/>
                  </a:spcBef>
                  <a:buFontTx/>
                  <a:buNone/>
                </a:pPr>
                <a:endParaRPr lang="en-US" altLang="en-US" sz="2400" dirty="0">
                  <a:latin typeface="Times New Roman" panose="02020603050405020304" pitchFamily="18" charset="0"/>
                </a:endParaRPr>
              </a:p>
              <a:p>
                <a:pPr algn="just">
                  <a:spcBef>
                    <a:spcPct val="10000"/>
                  </a:spcBef>
                  <a:buFontTx/>
                  <a:buNone/>
                </a:pPr>
                <a:endParaRPr lang="en-US" altLang="en-US" sz="2400" dirty="0">
                  <a:latin typeface="Times New Roman" panose="02020603050405020304" pitchFamily="18" charset="0"/>
                </a:endParaRPr>
              </a:p>
              <a:p>
                <a:pPr algn="just">
                  <a:spcBef>
                    <a:spcPct val="10000"/>
                  </a:spcBef>
                  <a:buFontTx/>
                  <a:buNone/>
                </a:pPr>
                <a:endParaRPr lang="en-US" altLang="en-US" sz="2400" dirty="0">
                  <a:latin typeface="Times New Roman" panose="02020603050405020304" pitchFamily="18" charset="0"/>
                </a:endParaRPr>
              </a:p>
              <a:p>
                <a:pPr algn="just">
                  <a:spcBef>
                    <a:spcPct val="10000"/>
                  </a:spcBef>
                  <a:buFontTx/>
                  <a:buNone/>
                </a:pPr>
                <a:endParaRPr lang="en-US" altLang="en-US" sz="2400" dirty="0">
                  <a:latin typeface="Times New Roman" panose="02020603050405020304" pitchFamily="18" charset="0"/>
                </a:endParaRPr>
              </a:p>
              <a:p>
                <a:pPr algn="just" eaLnBrk="1" hangingPunct="1">
                  <a:spcBef>
                    <a:spcPct val="10000"/>
                  </a:spcBef>
                  <a:buFontTx/>
                  <a:buNone/>
                </a:pPr>
                <a:endParaRPr lang="en-US" altLang="en-US" sz="2400" dirty="0">
                  <a:latin typeface="Times New Roman" panose="02020603050405020304" pitchFamily="18" charset="0"/>
                </a:endParaRPr>
              </a:p>
              <a:p>
                <a:pPr algn="just" eaLnBrk="1" hangingPunct="1">
                  <a:spcBef>
                    <a:spcPct val="10000"/>
                  </a:spcBef>
                  <a:buNone/>
                </a:pPr>
                <a:endParaRPr lang="en-US" altLang="en-US" sz="2400" dirty="0">
                  <a:latin typeface="Times New Roman" panose="02020603050405020304" pitchFamily="18" charset="0"/>
                </a:endParaRPr>
              </a:p>
              <a:p>
                <a:pPr algn="just">
                  <a:spcBef>
                    <a:spcPct val="10000"/>
                  </a:spcBef>
                  <a:buNone/>
                </a:pPr>
                <a:endParaRPr lang="en-US" altLang="en-US" sz="2400" dirty="0">
                  <a:latin typeface="Times New Roman" panose="02020603050405020304" pitchFamily="18" charset="0"/>
                </a:endParaRPr>
              </a:p>
              <a:p>
                <a:pPr algn="just" eaLnBrk="1" hangingPunct="1">
                  <a:spcBef>
                    <a:spcPct val="10000"/>
                  </a:spcBef>
                  <a:buNone/>
                </a:pPr>
                <a:endParaRPr lang="en-US" altLang="en-US" sz="2400" dirty="0">
                  <a:latin typeface="Times New Roman" panose="02020603050405020304" pitchFamily="18" charset="0"/>
                </a:endParaRPr>
              </a:p>
              <a:p>
                <a:pPr algn="just" eaLnBrk="1" hangingPunct="1">
                  <a:spcBef>
                    <a:spcPct val="10000"/>
                  </a:spcBef>
                  <a:buNone/>
                </a:pPr>
                <a:endParaRPr lang="en-US" altLang="en-US" sz="2400" dirty="0">
                  <a:latin typeface="Times New Roman" panose="02020603050405020304" pitchFamily="18" charset="0"/>
                </a:endParaRPr>
              </a:p>
              <a:p>
                <a:pPr algn="just">
                  <a:spcBef>
                    <a:spcPct val="10000"/>
                  </a:spcBef>
                  <a:buNone/>
                </a:pPr>
                <a:endParaRPr lang="en-US" altLang="en-US" sz="2400" dirty="0">
                  <a:latin typeface="Times New Roman"/>
                  <a:cs typeface="Arial"/>
                </a:endParaRPr>
              </a:p>
              <a:p>
                <a:pPr algn="just">
                  <a:spcBef>
                    <a:spcPct val="10000"/>
                  </a:spcBef>
                  <a:buNone/>
                </a:pPr>
                <a:endParaRPr lang="en-US" altLang="en-US" sz="2400" dirty="0">
                  <a:latin typeface="Times New Roman"/>
                  <a:cs typeface="Arial"/>
                </a:endParaRPr>
              </a:p>
              <a:p>
                <a:pPr algn="just">
                  <a:spcBef>
                    <a:spcPct val="10000"/>
                  </a:spcBef>
                  <a:buNone/>
                </a:pPr>
                <a:endParaRPr lang="en-US" altLang="en-US" sz="2400" dirty="0">
                  <a:latin typeface="Times New Roman"/>
                  <a:cs typeface="Arial"/>
                </a:endParaRPr>
              </a:p>
              <a:p>
                <a:pPr algn="just">
                  <a:spcBef>
                    <a:spcPct val="10000"/>
                  </a:spcBef>
                  <a:buNone/>
                </a:pPr>
                <a:endParaRPr lang="en-US" altLang="en-US" sz="2400" dirty="0">
                  <a:latin typeface="Times New Roman"/>
                  <a:cs typeface="Arial"/>
                </a:endParaRPr>
              </a:p>
              <a:p>
                <a:pPr algn="just">
                  <a:spcBef>
                    <a:spcPct val="10000"/>
                  </a:spcBef>
                  <a:buNone/>
                </a:pPr>
                <a:endParaRPr lang="en-US" altLang="en-US" sz="2400" dirty="0">
                  <a:latin typeface="Times New Roman"/>
                  <a:cs typeface="Arial"/>
                </a:endParaRPr>
              </a:p>
              <a:p>
                <a:pPr algn="just">
                  <a:spcBef>
                    <a:spcPct val="10000"/>
                  </a:spcBef>
                  <a:buNone/>
                </a:pPr>
                <a:endParaRPr lang="en-US" altLang="en-US" sz="2400" dirty="0">
                  <a:latin typeface="Times New Roman"/>
                  <a:cs typeface="Arial"/>
                </a:endParaRPr>
              </a:p>
              <a:p>
                <a:pPr algn="ctr" eaLnBrk="1" hangingPunct="1">
                  <a:spcBef>
                    <a:spcPct val="10000"/>
                  </a:spcBef>
                  <a:buNone/>
                </a:pPr>
                <a:r>
                  <a:rPr lang="en-US" altLang="en-US" sz="2400" b="1" dirty="0">
                    <a:latin typeface="Times New Roman"/>
                    <a:cs typeface="Arial"/>
                  </a:rPr>
                  <a:t>Figure 4: </a:t>
                </a:r>
                <a:r>
                  <a:rPr lang="en-US" altLang="en-US" sz="2400" b="1" dirty="0" err="1">
                    <a:latin typeface="Times New Roman"/>
                    <a:cs typeface="Arial"/>
                  </a:rPr>
                  <a:t>ProxiVault's</a:t>
                </a:r>
                <a:r>
                  <a:rPr lang="en-US" altLang="en-US" sz="2400" b="1" dirty="0">
                    <a:latin typeface="Times New Roman"/>
                    <a:cs typeface="Arial"/>
                  </a:rPr>
                  <a:t> Face</a:t>
                </a:r>
              </a:p>
              <a:p>
                <a:pPr algn="ctr" eaLnBrk="1" hangingPunct="1">
                  <a:spcBef>
                    <a:spcPct val="10000"/>
                  </a:spcBef>
                  <a:buFontTx/>
                  <a:buNone/>
                </a:pPr>
                <a:endParaRPr lang="en-US" altLang="en-US" sz="2400" b="1" dirty="0">
                  <a:latin typeface="Times New Roman" panose="02020603050405020304" pitchFamily="18" charset="0"/>
                </a:endParaRPr>
              </a:p>
              <a:p>
                <a:pPr eaLnBrk="1" hangingPunct="1">
                  <a:spcBef>
                    <a:spcPct val="0"/>
                  </a:spcBef>
                  <a:buNone/>
                </a:pPr>
                <a:r>
                  <a:rPr lang="en-US" altLang="en-US" sz="2400" dirty="0">
                    <a:latin typeface="Times New Roman"/>
                    <a:cs typeface="Arial"/>
                  </a:rPr>
                  <a:t>	Figure 4 is the face of the box and how it looks after construction. The gauge servo is placed just above the HC-SR04 ultrasonic distance sensor which outputs the distance of the person or object on the LCD screen placed below. </a:t>
                </a:r>
              </a:p>
              <a:p>
                <a:pPr eaLnBrk="1" hangingPunct="1">
                  <a:spcBef>
                    <a:spcPct val="0"/>
                  </a:spcBef>
                  <a:buFontTx/>
                  <a:buNone/>
                </a:pPr>
                <a:endParaRPr lang="en-US" altLang="en-US" sz="2400" b="1" dirty="0">
                  <a:latin typeface="Times New Roman" panose="02020603050405020304" pitchFamily="18" charset="0"/>
                </a:endParaRPr>
              </a:p>
              <a:p>
                <a:pPr algn="ctr" eaLnBrk="1" hangingPunct="1">
                  <a:spcBef>
                    <a:spcPct val="10000"/>
                  </a:spcBef>
                  <a:buFontTx/>
                  <a:buNone/>
                </a:pPr>
                <a:endParaRPr lang="en-US" altLang="en-US" sz="2400" b="1" dirty="0">
                  <a:latin typeface="Times New Roman" panose="02020603050405020304" pitchFamily="18" charset="0"/>
                </a:endParaRPr>
              </a:p>
              <a:p>
                <a:pPr algn="ctr" eaLnBrk="1" hangingPunct="1">
                  <a:spcBef>
                    <a:spcPct val="10000"/>
                  </a:spcBef>
                  <a:buFontTx/>
                  <a:buNone/>
                </a:pPr>
                <a:endParaRPr lang="en-US" altLang="en-US" sz="2400" b="1" dirty="0">
                  <a:latin typeface="Times New Roman" panose="02020603050405020304" pitchFamily="18" charset="0"/>
                </a:endParaRPr>
              </a:p>
              <a:p>
                <a:pPr algn="ctr" eaLnBrk="1" hangingPunct="1">
                  <a:spcBef>
                    <a:spcPct val="10000"/>
                  </a:spcBef>
                  <a:buFontTx/>
                  <a:buNone/>
                </a:pPr>
                <a:endParaRPr lang="en-US" altLang="en-US" sz="2400" b="1" dirty="0">
                  <a:latin typeface="Times New Roman" panose="02020603050405020304" pitchFamily="18" charset="0"/>
                </a:endParaRPr>
              </a:p>
              <a:p>
                <a:pPr algn="ctr" eaLnBrk="1" hangingPunct="1">
                  <a:spcBef>
                    <a:spcPct val="10000"/>
                  </a:spcBef>
                  <a:buFontTx/>
                  <a:buNone/>
                </a:pPr>
                <a:endParaRPr lang="en-US" altLang="en-US" sz="2400" b="1" dirty="0">
                  <a:latin typeface="Times New Roman" panose="02020603050405020304" pitchFamily="18" charset="0"/>
                </a:endParaRPr>
              </a:p>
              <a:p>
                <a:pPr algn="ctr" eaLnBrk="1" hangingPunct="1">
                  <a:spcBef>
                    <a:spcPct val="10000"/>
                  </a:spcBef>
                  <a:buFontTx/>
                  <a:buNone/>
                </a:pPr>
                <a:endParaRPr lang="en-US" altLang="en-US" sz="2400" b="1" dirty="0">
                  <a:latin typeface="Times New Roman" panose="02020603050405020304" pitchFamily="18" charset="0"/>
                </a:endParaRPr>
              </a:p>
              <a:p>
                <a:pPr algn="ctr" eaLnBrk="1" hangingPunct="1">
                  <a:spcBef>
                    <a:spcPct val="10000"/>
                  </a:spcBef>
                  <a:buFontTx/>
                  <a:buNone/>
                </a:pPr>
                <a:endParaRPr lang="en-US" altLang="en-US" sz="2400" b="1" dirty="0">
                  <a:latin typeface="Times New Roman" panose="02020603050405020304" pitchFamily="18" charset="0"/>
                </a:endParaRPr>
              </a:p>
              <a:p>
                <a:pPr algn="ctr" eaLnBrk="1" hangingPunct="1">
                  <a:spcBef>
                    <a:spcPct val="10000"/>
                  </a:spcBef>
                  <a:buFontTx/>
                  <a:buNone/>
                </a:pPr>
                <a:endParaRPr lang="en-US" altLang="en-US" sz="2400" b="1" dirty="0">
                  <a:latin typeface="Times New Roman" panose="02020603050405020304" pitchFamily="18" charset="0"/>
                </a:endParaRPr>
              </a:p>
              <a:p>
                <a:pPr algn="ctr" eaLnBrk="1" hangingPunct="1">
                  <a:spcBef>
                    <a:spcPct val="10000"/>
                  </a:spcBef>
                  <a:buFontTx/>
                  <a:buNone/>
                </a:pPr>
                <a:endParaRPr lang="en-US" altLang="en-US" sz="2400" b="1" dirty="0">
                  <a:latin typeface="Times New Roman" panose="02020603050405020304" pitchFamily="18" charset="0"/>
                </a:endParaRPr>
              </a:p>
              <a:p>
                <a:pPr algn="ctr" eaLnBrk="1" hangingPunct="1">
                  <a:spcBef>
                    <a:spcPct val="10000"/>
                  </a:spcBef>
                  <a:buFontTx/>
                  <a:buNone/>
                </a:pPr>
                <a:endParaRPr lang="en-US" altLang="en-US" sz="2400" b="1" dirty="0">
                  <a:latin typeface="Times New Roman" panose="02020603050405020304" pitchFamily="18" charset="0"/>
                </a:endParaRPr>
              </a:p>
              <a:p>
                <a:pPr algn="ctr" eaLnBrk="1" hangingPunct="1">
                  <a:spcBef>
                    <a:spcPct val="10000"/>
                  </a:spcBef>
                  <a:buFontTx/>
                  <a:buNone/>
                </a:pPr>
                <a:endParaRPr lang="en-US" altLang="en-US" sz="2400" b="1" dirty="0">
                  <a:latin typeface="Times New Roman" panose="02020603050405020304" pitchFamily="18" charset="0"/>
                </a:endParaRPr>
              </a:p>
              <a:p>
                <a:pPr algn="ctr" eaLnBrk="1" hangingPunct="1">
                  <a:spcBef>
                    <a:spcPct val="10000"/>
                  </a:spcBef>
                  <a:buFontTx/>
                  <a:buNone/>
                </a:pPr>
                <a:r>
                  <a:rPr lang="en-US" altLang="en-US" sz="2400" b="1" dirty="0">
                    <a:latin typeface="Times New Roman"/>
                    <a:cs typeface="Arial"/>
                  </a:rPr>
                  <a:t>Figure 5: Servo  (a),  Latch 	(b), Button  (c)</a:t>
                </a:r>
                <a:endParaRPr lang="en-US" altLang="en-US" sz="2400" dirty="0">
                  <a:latin typeface="Times New Roman" panose="02020603050405020304" pitchFamily="18" charset="0"/>
                </a:endParaRPr>
              </a:p>
              <a:p>
                <a:pPr algn="just" eaLnBrk="1" hangingPunct="1">
                  <a:spcBef>
                    <a:spcPct val="10000"/>
                  </a:spcBef>
                  <a:buFontTx/>
                  <a:buNone/>
                </a:pPr>
                <a:r>
                  <a:rPr lang="en-US" altLang="en-US" sz="2400" dirty="0">
                    <a:latin typeface="Times New Roman"/>
                    <a:cs typeface="Arial"/>
                  </a:rPr>
                  <a:t>	</a:t>
                </a:r>
              </a:p>
              <a:p>
                <a:pPr>
                  <a:buNone/>
                </a:pPr>
                <a:r>
                  <a:rPr lang="en-US" altLang="en-US" sz="2400" dirty="0">
                    <a:latin typeface="Times New Roman" panose="02020603050405020304" pitchFamily="18" charset="0"/>
                  </a:rPr>
                  <a:t>	Figure 5 displays a servo (a) connected to a 0.82mm metal wire wrapped around a latch (b). The latch was attached to the door using gorilla glue epoxy. </a:t>
                </a:r>
                <a:r>
                  <a:rPr lang="en-US" sz="2400" dirty="0">
                    <a:latin typeface="Times New Roman" panose="02020603050405020304" pitchFamily="18" charset="0"/>
                  </a:rPr>
                  <a:t>The metal wire and latch system was tested for durability, and the epoxy provided a solid, permanent bond to the doors surface. </a:t>
                </a:r>
                <a:r>
                  <a:rPr lang="en-US" altLang="en-US" sz="2400" dirty="0">
                    <a:latin typeface="Times New Roman" panose="02020603050405020304" pitchFamily="18" charset="0"/>
                  </a:rPr>
                  <a:t>The servo moves in 180</a:t>
                </a:r>
                <a14:m>
                  <m:oMath xmlns:m="http://schemas.openxmlformats.org/officeDocument/2006/math">
                    <m:r>
                      <a:rPr lang="en-US" altLang="en-US" sz="2400">
                        <a:latin typeface="Cambria Math" panose="02040503050406030204" pitchFamily="18" charset="0"/>
                      </a:rPr>
                      <m:t>°</m:t>
                    </m:r>
                  </m:oMath>
                </a14:m>
                <a:r>
                  <a:rPr lang="en-US" altLang="en-US" sz="2400" dirty="0">
                    <a:latin typeface="Times New Roman" panose="02020603050405020304" pitchFamily="18" charset="0"/>
                  </a:rPr>
                  <a:t> angle unlocking and locking the door by moving the latch. The door will be able to be unlocked when the RFID scanner has been scanned with the correct key scanner. To re-lock the door, there is a button (c) located on the left side of the LCD. The button used is a joystick from the Arduino kit, attached by gorilla glue epoxy for a secure hold. When pressed, the box will become armed again, locking the door, and resetting the all mechanical and software components back to state 1.</a:t>
                </a:r>
              </a:p>
              <a:p>
                <a:pPr eaLnBrk="1" hangingPunct="1">
                  <a:spcBef>
                    <a:spcPct val="0"/>
                  </a:spcBef>
                  <a:buNone/>
                </a:pPr>
                <a:endParaRPr lang="en-US" altLang="en-US" sz="2400" dirty="0">
                  <a:latin typeface="Times New Roman" panose="02020603050405020304" pitchFamily="18" charset="0"/>
                </a:endParaRPr>
              </a:p>
              <a:p>
                <a:pPr algn="l" rtl="0" eaLnBrk="1" hangingPunct="1">
                  <a:spcBef>
                    <a:spcPct val="0"/>
                  </a:spcBef>
                  <a:buNone/>
                </a:pPr>
                <a:endParaRPr lang="en-US" altLang="en-US" sz="2400" dirty="0">
                  <a:latin typeface="Times New Roman" panose="02020603050405020304" pitchFamily="18" charset="0"/>
                </a:endParaRPr>
              </a:p>
              <a:p>
                <a:pPr eaLnBrk="1" hangingPunct="1">
                  <a:spcBef>
                    <a:spcPct val="0"/>
                  </a:spcBef>
                  <a:buFontTx/>
                  <a:buNone/>
                </a:pPr>
                <a:endParaRPr lang="en-US" altLang="en-US" sz="2400" dirty="0">
                  <a:latin typeface="Times New Roman" panose="02020603050405020304" pitchFamily="18" charset="0"/>
                </a:endParaRPr>
              </a:p>
              <a:p>
                <a:pPr eaLnBrk="1" hangingPunct="1">
                  <a:spcBef>
                    <a:spcPct val="0"/>
                  </a:spcBef>
                  <a:buFontTx/>
                  <a:buNone/>
                </a:pPr>
                <a:endParaRPr lang="en-US" altLang="en-US" sz="2400" dirty="0">
                  <a:latin typeface="Times New Roman" panose="02020603050405020304" pitchFamily="18" charset="0"/>
                </a:endParaRPr>
              </a:p>
              <a:p>
                <a:pPr eaLnBrk="1" hangingPunct="1">
                  <a:spcBef>
                    <a:spcPct val="0"/>
                  </a:spcBef>
                  <a:buFontTx/>
                  <a:buNone/>
                </a:pPr>
                <a:endParaRPr lang="en-US" altLang="en-US" sz="2400" dirty="0">
                  <a:latin typeface="Times New Roman" panose="02020603050405020304" pitchFamily="18" charset="0"/>
                </a:endParaRPr>
              </a:p>
              <a:p>
                <a:pPr algn="ctr" eaLnBrk="1" hangingPunct="1">
                  <a:spcBef>
                    <a:spcPct val="10000"/>
                  </a:spcBef>
                  <a:buFontTx/>
                  <a:buNone/>
                </a:pPr>
                <a:endParaRPr lang="en-US" altLang="en-US" sz="2400" b="1" dirty="0">
                  <a:latin typeface="Times New Roman" panose="02020603050405020304" pitchFamily="18" charset="0"/>
                </a:endParaRPr>
              </a:p>
            </p:txBody>
          </p:sp>
        </mc:Choice>
        <mc:Fallback>
          <p:sp>
            <p:nvSpPr>
              <p:cNvPr id="3077" name="Text Box 9">
                <a:extLst>
                  <a:ext uri="{FF2B5EF4-FFF2-40B4-BE49-F238E27FC236}">
                    <a16:creationId xmlns:a16="http://schemas.microsoft.com/office/drawing/2014/main" id="{AD507E20-DFF8-43DC-8D58-B09D6BB6C6D9}"/>
                  </a:ext>
                </a:extLst>
              </p:cNvPr>
              <p:cNvSpPr txBox="1">
                <a:spLocks noRot="1" noChangeAspect="1" noMove="1" noResize="1" noEditPoints="1" noAdjustHandles="1" noChangeArrowheads="1" noChangeShapeType="1" noTextEdit="1"/>
              </p:cNvSpPr>
              <p:nvPr/>
            </p:nvSpPr>
            <p:spPr bwMode="auto">
              <a:xfrm>
                <a:off x="13666787" y="6889179"/>
                <a:ext cx="10512425" cy="24647269"/>
              </a:xfrm>
              <a:prstGeom prst="rect">
                <a:avLst/>
              </a:prstGeom>
              <a:blipFill>
                <a:blip r:embed="rId3"/>
                <a:stretch>
                  <a:fillRect/>
                </a:stretch>
              </a:blipFill>
              <a:ln w="12700">
                <a:solidFill>
                  <a:srgbClr val="B08F37"/>
                </a:solidFill>
                <a:miter lim="800000"/>
                <a:headEnd/>
                <a:tailEnd/>
              </a:ln>
            </p:spPr>
            <p:txBody>
              <a:bodyPr/>
              <a:lstStyle/>
              <a:p>
                <a:r>
                  <a:rPr lang="en-US">
                    <a:noFill/>
                  </a:rPr>
                  <a:t> </a:t>
                </a:r>
              </a:p>
            </p:txBody>
          </p:sp>
        </mc:Fallback>
      </mc:AlternateContent>
      <p:sp>
        <p:nvSpPr>
          <p:cNvPr id="3078" name="Text Box 10">
            <a:extLst>
              <a:ext uri="{FF2B5EF4-FFF2-40B4-BE49-F238E27FC236}">
                <a16:creationId xmlns:a16="http://schemas.microsoft.com/office/drawing/2014/main" id="{73E04451-73E9-4C92-AA77-663726E426E1}"/>
              </a:ext>
            </a:extLst>
          </p:cNvPr>
          <p:cNvSpPr txBox="1">
            <a:spLocks noChangeArrowheads="1"/>
          </p:cNvSpPr>
          <p:nvPr/>
        </p:nvSpPr>
        <p:spPr bwMode="auto">
          <a:xfrm>
            <a:off x="1444625" y="31922819"/>
            <a:ext cx="22869525" cy="4467578"/>
          </a:xfrm>
          <a:prstGeom prst="rect">
            <a:avLst/>
          </a:prstGeom>
          <a:solidFill>
            <a:schemeClr val="bg1"/>
          </a:solidFill>
          <a:ln w="12700">
            <a:solidFill>
              <a:srgbClr val="B08F37"/>
            </a:solidFill>
            <a:miter lim="800000"/>
            <a:headEnd/>
            <a:tailEnd/>
          </a:ln>
        </p:spPr>
        <p:txBody>
          <a:bodyPr lIns="914400" tIns="457200" rIns="914400" bIns="914400" anchor="t"/>
          <a:lstStyle>
            <a:lvl1pPr>
              <a:spcBef>
                <a:spcPct val="20000"/>
              </a:spcBef>
              <a:buChar char="•"/>
              <a:tabLst>
                <a:tab pos="635000" algn="l"/>
              </a:tabLst>
              <a:defRPr sz="12400">
                <a:solidFill>
                  <a:schemeClr val="tx1"/>
                </a:solidFill>
                <a:latin typeface="Arial" panose="020B0604020202020204" pitchFamily="34" charset="0"/>
                <a:cs typeface="Arial" panose="020B0604020202020204" pitchFamily="34" charset="0"/>
              </a:defRPr>
            </a:lvl1pPr>
            <a:lvl2pPr marL="742950" indent="-285750">
              <a:spcBef>
                <a:spcPct val="20000"/>
              </a:spcBef>
              <a:buChar char="–"/>
              <a:tabLst>
                <a:tab pos="635000" algn="l"/>
              </a:tabLst>
              <a:defRPr sz="109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tabLst>
                <a:tab pos="635000" algn="l"/>
              </a:tabLst>
              <a:defRPr sz="93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tabLst>
                <a:tab pos="635000" algn="l"/>
              </a:tabLst>
              <a:defRPr sz="78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tabLst>
                <a:tab pos="635000" algn="l"/>
              </a:tabLst>
              <a:defRPr sz="7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tabLst>
                <a:tab pos="635000" algn="l"/>
              </a:tabLst>
              <a:defRPr sz="7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tabLst>
                <a:tab pos="635000" algn="l"/>
              </a:tabLst>
              <a:defRPr sz="7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tabLst>
                <a:tab pos="635000" algn="l"/>
              </a:tabLst>
              <a:defRPr sz="7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tabLst>
                <a:tab pos="635000" algn="l"/>
              </a:tabLst>
              <a:defRPr sz="7800">
                <a:solidFill>
                  <a:schemeClr val="tx1"/>
                </a:solidFill>
                <a:latin typeface="Arial" panose="020B0604020202020204" pitchFamily="34" charset="0"/>
                <a:cs typeface="Arial" panose="020B0604020202020204" pitchFamily="34" charset="0"/>
              </a:defRPr>
            </a:lvl9pPr>
          </a:lstStyle>
          <a:p>
            <a:pPr eaLnBrk="1" hangingPunct="1">
              <a:spcBef>
                <a:spcPct val="50000"/>
              </a:spcBef>
              <a:buNone/>
            </a:pPr>
            <a:r>
              <a:rPr lang="en-US" altLang="en-US" sz="4400" b="1" dirty="0">
                <a:latin typeface="Arial"/>
                <a:cs typeface="Arial"/>
              </a:rPr>
              <a:t>Conclusion</a:t>
            </a:r>
          </a:p>
          <a:p>
            <a:pPr algn="just">
              <a:spcBef>
                <a:spcPct val="10000"/>
              </a:spcBef>
              <a:buNone/>
            </a:pPr>
            <a:r>
              <a:rPr lang="en-US" altLang="en-US" sz="2400" dirty="0">
                <a:latin typeface="Times New Roman"/>
                <a:cs typeface="Arial"/>
              </a:rPr>
              <a:t>	</a:t>
            </a:r>
            <a:r>
              <a:rPr lang="en-US" sz="2400" dirty="0" err="1">
                <a:latin typeface="Times New Roman"/>
                <a:cs typeface="Arial"/>
              </a:rPr>
              <a:t>ProxiVault</a:t>
            </a:r>
            <a:r>
              <a:rPr lang="en-US" sz="2400" dirty="0">
                <a:latin typeface="Times New Roman"/>
                <a:cs typeface="Arial"/>
              </a:rPr>
              <a:t> has multiple purposes in real world settings, such as home security (for jewelry, cash, and personal items), small businesses (for secure cash storage), and medical offices (for drug or record protection). </a:t>
            </a:r>
            <a:r>
              <a:rPr lang="en-US" sz="2400" dirty="0" err="1">
                <a:latin typeface="Times New Roman"/>
                <a:cs typeface="Arial"/>
              </a:rPr>
              <a:t>ProxiVault</a:t>
            </a:r>
            <a:r>
              <a:rPr lang="en-US" sz="2400" dirty="0">
                <a:latin typeface="Times New Roman"/>
                <a:cs typeface="Arial"/>
              </a:rPr>
              <a:t> helps keeps the community safe and decrease theft. The goal was to create a motion-triggered smart safe using ultrasonic sensors, servo rotation, with visual and audible alerts. The final prototype functioned reliably and met the design expectations. </a:t>
            </a:r>
            <a:endParaRPr lang="en-US" sz="2400" dirty="0">
              <a:latin typeface="Times New Roman"/>
              <a:cs typeface="Times New Roman"/>
            </a:endParaRPr>
          </a:p>
          <a:p>
            <a:pPr algn="just">
              <a:spcBef>
                <a:spcPct val="10000"/>
              </a:spcBef>
              <a:buNone/>
            </a:pPr>
            <a:endParaRPr lang="en-US" sz="2400" dirty="0">
              <a:latin typeface="Times New Roman"/>
              <a:cs typeface="Arial"/>
            </a:endParaRPr>
          </a:p>
          <a:p>
            <a:pPr algn="just">
              <a:spcBef>
                <a:spcPct val="10000"/>
              </a:spcBef>
              <a:buNone/>
            </a:pPr>
            <a:r>
              <a:rPr lang="en-US" sz="2400" dirty="0">
                <a:latin typeface="Times New Roman"/>
                <a:cs typeface="Arial"/>
              </a:rPr>
              <a:t>    </a:t>
            </a:r>
            <a:r>
              <a:rPr lang="en-US" sz="2400" dirty="0" err="1">
                <a:latin typeface="Times New Roman"/>
                <a:cs typeface="Times New Roman"/>
              </a:rPr>
              <a:t>ProxiVault</a:t>
            </a:r>
            <a:r>
              <a:rPr lang="en-US" sz="2400" dirty="0">
                <a:latin typeface="Times New Roman"/>
                <a:cs typeface="Times New Roman"/>
              </a:rPr>
              <a:t> is an effective way to save a business time and money by always making sure their most valuable assets are secure from intruders. Equipped with distance and radio frequency sensing capabilities </a:t>
            </a:r>
            <a:r>
              <a:rPr lang="en-US" sz="2400" dirty="0" err="1">
                <a:latin typeface="Times New Roman"/>
                <a:cs typeface="Times New Roman"/>
              </a:rPr>
              <a:t>ProxiVault</a:t>
            </a:r>
            <a:r>
              <a:rPr lang="en-US" sz="2400" dirty="0">
                <a:latin typeface="Times New Roman"/>
                <a:cs typeface="Times New Roman"/>
              </a:rPr>
              <a:t> is the perfect addition to your home or business if safety is your number one priority, because it sure is ours!</a:t>
            </a:r>
            <a:endParaRPr lang="en-US" sz="2400" dirty="0">
              <a:latin typeface="Times New Roman"/>
              <a:cs typeface="Arial"/>
            </a:endParaRPr>
          </a:p>
        </p:txBody>
      </p:sp>
      <p:sp>
        <p:nvSpPr>
          <p:cNvPr id="3080" name="Rectangle 19">
            <a:extLst>
              <a:ext uri="{FF2B5EF4-FFF2-40B4-BE49-F238E27FC236}">
                <a16:creationId xmlns:a16="http://schemas.microsoft.com/office/drawing/2014/main" id="{F0EBA445-D3E5-4FFD-A05D-60789BB4D161}"/>
              </a:ext>
            </a:extLst>
          </p:cNvPr>
          <p:cNvSpPr>
            <a:spLocks noChangeArrowheads="1"/>
          </p:cNvSpPr>
          <p:nvPr/>
        </p:nvSpPr>
        <p:spPr bwMode="auto">
          <a:xfrm>
            <a:off x="2872780" y="2921367"/>
            <a:ext cx="21003220" cy="3560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55308" tIns="177654" rIns="355308" bIns="177654" anchor="ctr"/>
          <a:lstStyle>
            <a:lvl1pPr defTabSz="3552825">
              <a:spcBef>
                <a:spcPct val="20000"/>
              </a:spcBef>
              <a:buChar char="•"/>
              <a:defRPr sz="12400">
                <a:solidFill>
                  <a:schemeClr val="tx1"/>
                </a:solidFill>
                <a:latin typeface="Arial" panose="020B0604020202020204" pitchFamily="34" charset="0"/>
                <a:cs typeface="Arial" panose="020B0604020202020204" pitchFamily="34" charset="0"/>
              </a:defRPr>
            </a:lvl1pPr>
            <a:lvl2pPr marL="742950" indent="-285750" defTabSz="3552825">
              <a:spcBef>
                <a:spcPct val="20000"/>
              </a:spcBef>
              <a:buChar char="–"/>
              <a:defRPr sz="10900">
                <a:solidFill>
                  <a:schemeClr val="tx1"/>
                </a:solidFill>
                <a:latin typeface="Arial" panose="020B0604020202020204" pitchFamily="34" charset="0"/>
                <a:cs typeface="Arial" panose="020B0604020202020204" pitchFamily="34" charset="0"/>
              </a:defRPr>
            </a:lvl2pPr>
            <a:lvl3pPr marL="1143000" indent="-228600" defTabSz="3552825">
              <a:spcBef>
                <a:spcPct val="20000"/>
              </a:spcBef>
              <a:buChar char="•"/>
              <a:defRPr sz="9300">
                <a:solidFill>
                  <a:schemeClr val="tx1"/>
                </a:solidFill>
                <a:latin typeface="Arial" panose="020B0604020202020204" pitchFamily="34" charset="0"/>
                <a:cs typeface="Arial" panose="020B0604020202020204" pitchFamily="34" charset="0"/>
              </a:defRPr>
            </a:lvl3pPr>
            <a:lvl4pPr marL="1600200" indent="-228600" defTabSz="3552825">
              <a:spcBef>
                <a:spcPct val="20000"/>
              </a:spcBef>
              <a:buChar char="–"/>
              <a:defRPr sz="7800">
                <a:solidFill>
                  <a:schemeClr val="tx1"/>
                </a:solidFill>
                <a:latin typeface="Arial" panose="020B0604020202020204" pitchFamily="34" charset="0"/>
                <a:cs typeface="Arial" panose="020B0604020202020204" pitchFamily="34" charset="0"/>
              </a:defRPr>
            </a:lvl4pPr>
            <a:lvl5pPr marL="2057400" indent="-228600" defTabSz="3552825">
              <a:spcBef>
                <a:spcPct val="20000"/>
              </a:spcBef>
              <a:buChar char="»"/>
              <a:defRPr sz="7800">
                <a:solidFill>
                  <a:schemeClr val="tx1"/>
                </a:solidFill>
                <a:latin typeface="Arial" panose="020B0604020202020204" pitchFamily="34" charset="0"/>
                <a:cs typeface="Arial" panose="020B0604020202020204" pitchFamily="34" charset="0"/>
              </a:defRPr>
            </a:lvl5pPr>
            <a:lvl6pPr marL="2514600" indent="-228600" defTabSz="3552825" eaLnBrk="0" fontAlgn="base" hangingPunct="0">
              <a:spcBef>
                <a:spcPct val="20000"/>
              </a:spcBef>
              <a:spcAft>
                <a:spcPct val="0"/>
              </a:spcAft>
              <a:buChar char="»"/>
              <a:defRPr sz="7800">
                <a:solidFill>
                  <a:schemeClr val="tx1"/>
                </a:solidFill>
                <a:latin typeface="Arial" panose="020B0604020202020204" pitchFamily="34" charset="0"/>
                <a:cs typeface="Arial" panose="020B0604020202020204" pitchFamily="34" charset="0"/>
              </a:defRPr>
            </a:lvl6pPr>
            <a:lvl7pPr marL="2971800" indent="-228600" defTabSz="3552825" eaLnBrk="0" fontAlgn="base" hangingPunct="0">
              <a:spcBef>
                <a:spcPct val="20000"/>
              </a:spcBef>
              <a:spcAft>
                <a:spcPct val="0"/>
              </a:spcAft>
              <a:buChar char="»"/>
              <a:defRPr sz="7800">
                <a:solidFill>
                  <a:schemeClr val="tx1"/>
                </a:solidFill>
                <a:latin typeface="Arial" panose="020B0604020202020204" pitchFamily="34" charset="0"/>
                <a:cs typeface="Arial" panose="020B0604020202020204" pitchFamily="34" charset="0"/>
              </a:defRPr>
            </a:lvl7pPr>
            <a:lvl8pPr marL="3429000" indent="-228600" defTabSz="3552825" eaLnBrk="0" fontAlgn="base" hangingPunct="0">
              <a:spcBef>
                <a:spcPct val="20000"/>
              </a:spcBef>
              <a:spcAft>
                <a:spcPct val="0"/>
              </a:spcAft>
              <a:buChar char="»"/>
              <a:defRPr sz="7800">
                <a:solidFill>
                  <a:schemeClr val="tx1"/>
                </a:solidFill>
                <a:latin typeface="Arial" panose="020B0604020202020204" pitchFamily="34" charset="0"/>
                <a:cs typeface="Arial" panose="020B0604020202020204" pitchFamily="34" charset="0"/>
              </a:defRPr>
            </a:lvl8pPr>
            <a:lvl9pPr marL="3886200" indent="-228600" defTabSz="3552825" eaLnBrk="0" fontAlgn="base" hangingPunct="0">
              <a:spcBef>
                <a:spcPct val="20000"/>
              </a:spcBef>
              <a:spcAft>
                <a:spcPct val="0"/>
              </a:spcAft>
              <a:buChar char="»"/>
              <a:defRPr sz="78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None/>
            </a:pPr>
            <a:r>
              <a:rPr lang="en-US" altLang="en-US" sz="4000" b="1" dirty="0"/>
              <a:t>A. </a:t>
            </a:r>
            <a:r>
              <a:rPr lang="en-US" altLang="en-US" sz="4000" b="1" dirty="0" err="1"/>
              <a:t>Konja</a:t>
            </a:r>
            <a:r>
              <a:rPr lang="en-US" altLang="en-US" sz="4000" b="1" dirty="0"/>
              <a:t>, A. </a:t>
            </a:r>
            <a:r>
              <a:rPr lang="en-US" altLang="en-US" sz="4000" b="1" dirty="0" err="1"/>
              <a:t>Dikho</a:t>
            </a:r>
            <a:r>
              <a:rPr lang="en-US" altLang="en-US" sz="4000" b="1" dirty="0"/>
              <a:t>, L. </a:t>
            </a:r>
            <a:r>
              <a:rPr lang="en-US" altLang="en-US" sz="4000" b="1" dirty="0" err="1"/>
              <a:t>Petterle</a:t>
            </a:r>
            <a:r>
              <a:rPr lang="en-US" altLang="en-US" sz="4000" b="1" dirty="0"/>
              <a:t>, and L. Zora</a:t>
            </a:r>
            <a:br>
              <a:rPr lang="en-US" altLang="en-US" sz="4000" b="1" dirty="0"/>
            </a:br>
            <a:r>
              <a:rPr lang="en-US" altLang="en-US" sz="4000" b="1" dirty="0"/>
              <a:t>EGR280 Final Project – Fall 2025</a:t>
            </a:r>
            <a:br>
              <a:rPr lang="en-US" altLang="en-US" sz="4000" b="1" dirty="0"/>
            </a:br>
            <a:r>
              <a:rPr lang="en-US" altLang="en-US" sz="4000" b="1" dirty="0"/>
              <a:t>School of Engineering and Computer Science, Oakland University</a:t>
            </a:r>
            <a:br>
              <a:rPr lang="en-US" altLang="en-US" sz="4000" b="1" dirty="0"/>
            </a:br>
            <a:r>
              <a:rPr lang="en-US" altLang="en-US" sz="4000" b="1" dirty="0"/>
              <a:t>Instructors: Prof. O. </a:t>
            </a:r>
            <a:r>
              <a:rPr lang="en-US" altLang="en-US" sz="4000" b="1" dirty="0" err="1"/>
              <a:t>Rawashdeh</a:t>
            </a:r>
            <a:r>
              <a:rPr lang="en-US" altLang="en-US" sz="4000" b="1" dirty="0"/>
              <a:t> and Prof. M. </a:t>
            </a:r>
            <a:r>
              <a:rPr lang="en-US" sz="4000" b="1" dirty="0" err="1"/>
              <a:t>Romagnoli</a:t>
            </a:r>
            <a:endParaRPr lang="en-US" sz="4000" b="1" dirty="0"/>
          </a:p>
          <a:p>
            <a:pPr algn="ctr" eaLnBrk="1" hangingPunct="1">
              <a:spcBef>
                <a:spcPct val="0"/>
              </a:spcBef>
              <a:buFontTx/>
              <a:buNone/>
            </a:pPr>
            <a:endParaRPr lang="en-US" altLang="en-US" sz="4000" b="1" dirty="0"/>
          </a:p>
        </p:txBody>
      </p:sp>
      <p:pic>
        <p:nvPicPr>
          <p:cNvPr id="3087" name="Picture 27" descr="https://upload.wikimedia.org/wikipedia/commons/d/d8/Oakland_University_logo.png">
            <a:extLst>
              <a:ext uri="{FF2B5EF4-FFF2-40B4-BE49-F238E27FC236}">
                <a16:creationId xmlns:a16="http://schemas.microsoft.com/office/drawing/2014/main" id="{A16ABFC7-3715-480F-B6CB-4A96D5EC93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075" y="3951288"/>
            <a:ext cx="4397375" cy="18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descr="A black box with a blue screen&#10;&#10;AI-generated content may be incorrect.">
            <a:extLst>
              <a:ext uri="{FF2B5EF4-FFF2-40B4-BE49-F238E27FC236}">
                <a16:creationId xmlns:a16="http://schemas.microsoft.com/office/drawing/2014/main" id="{77B44865-142D-6CEF-C9C7-6D7E1792B0D7}"/>
              </a:ext>
            </a:extLst>
          </p:cNvPr>
          <p:cNvPicPr>
            <a:picLocks noChangeAspect="1"/>
          </p:cNvPicPr>
          <p:nvPr/>
        </p:nvPicPr>
        <p:blipFill>
          <a:blip r:embed="rId5"/>
          <a:srcRect l="2941" t="9417" r="9442" b="12556"/>
          <a:stretch/>
        </p:blipFill>
        <p:spPr>
          <a:xfrm>
            <a:off x="16469096" y="9429350"/>
            <a:ext cx="5429209" cy="3503150"/>
          </a:xfrm>
          <a:prstGeom prst="rect">
            <a:avLst/>
          </a:prstGeom>
          <a:ln w="127000" cap="sq">
            <a:noFill/>
            <a:miter lim="800000"/>
          </a:ln>
          <a:effectLst>
            <a:outerShdw blurRad="57150" dist="50800" dir="2700000" algn="tl" rotWithShape="0">
              <a:srgbClr val="000000">
                <a:alpha val="40000"/>
              </a:srgbClr>
            </a:outerShdw>
          </a:effectLst>
        </p:spPr>
      </p:pic>
      <p:pic>
        <p:nvPicPr>
          <p:cNvPr id="4" name="Picture 3" descr="A circuit board with wires&#10;&#10;AI-generated content may be incorrect.">
            <a:extLst>
              <a:ext uri="{FF2B5EF4-FFF2-40B4-BE49-F238E27FC236}">
                <a16:creationId xmlns:a16="http://schemas.microsoft.com/office/drawing/2014/main" id="{CFF81E2E-1A27-7DD9-D8F7-1E8AC1CD8CA4}"/>
              </a:ext>
            </a:extLst>
          </p:cNvPr>
          <p:cNvPicPr>
            <a:picLocks noChangeAspect="1"/>
          </p:cNvPicPr>
          <p:nvPr/>
        </p:nvPicPr>
        <p:blipFill>
          <a:blip r:embed="rId6"/>
          <a:stretch>
            <a:fillRect/>
          </a:stretch>
        </p:blipFill>
        <p:spPr>
          <a:xfrm>
            <a:off x="3017621" y="15510360"/>
            <a:ext cx="7904648" cy="4105466"/>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descr="A video game controller with buttons and switches&#10;&#10;AI-generated content may be incorrect.">
            <a:extLst>
              <a:ext uri="{FF2B5EF4-FFF2-40B4-BE49-F238E27FC236}">
                <a16:creationId xmlns:a16="http://schemas.microsoft.com/office/drawing/2014/main" id="{CEF7AD20-22A3-925A-B40C-F21EFA59DBAB}"/>
              </a:ext>
            </a:extLst>
          </p:cNvPr>
          <p:cNvPicPr>
            <a:picLocks noChangeAspect="1"/>
          </p:cNvPicPr>
          <p:nvPr/>
        </p:nvPicPr>
        <p:blipFill>
          <a:blip r:embed="rId7"/>
          <a:stretch>
            <a:fillRect/>
          </a:stretch>
        </p:blipFill>
        <p:spPr>
          <a:xfrm>
            <a:off x="14450339" y="13393145"/>
            <a:ext cx="8958268" cy="4165702"/>
          </a:xfrm>
          <a:prstGeom prst="rect">
            <a:avLst/>
          </a:prstGeom>
          <a:ln w="127000" cap="sq">
            <a:noFill/>
            <a:miter lim="800000"/>
          </a:ln>
          <a:effectLst>
            <a:outerShdw blurRad="57150" dist="50800" dir="2700000" algn="tl" rotWithShape="0">
              <a:srgbClr val="000000">
                <a:alpha val="40000"/>
              </a:srgbClr>
            </a:outerShdw>
          </a:effectLst>
        </p:spPr>
      </p:pic>
      <p:pic>
        <p:nvPicPr>
          <p:cNvPr id="7" name="Picture 6" descr="A metal bolt on a wood surface&#10;&#10;AI-generated content may be incorrect.">
            <a:extLst>
              <a:ext uri="{FF2B5EF4-FFF2-40B4-BE49-F238E27FC236}">
                <a16:creationId xmlns:a16="http://schemas.microsoft.com/office/drawing/2014/main" id="{2EBA3AB8-32D4-25D4-D1E2-C2C83D12DD4B}"/>
              </a:ext>
            </a:extLst>
          </p:cNvPr>
          <p:cNvPicPr>
            <a:picLocks noChangeAspect="1"/>
          </p:cNvPicPr>
          <p:nvPr/>
        </p:nvPicPr>
        <p:blipFill>
          <a:blip r:embed="rId8"/>
          <a:srcRect t="20653" r="438" b="33806"/>
          <a:stretch/>
        </p:blipFill>
        <p:spPr>
          <a:xfrm>
            <a:off x="17675741" y="20627345"/>
            <a:ext cx="3409407" cy="3122068"/>
          </a:xfrm>
          <a:prstGeom prst="rect">
            <a:avLst/>
          </a:prstGeom>
        </p:spPr>
      </p:pic>
      <p:pic>
        <p:nvPicPr>
          <p:cNvPr id="9" name="Picture 8">
            <a:extLst>
              <a:ext uri="{FF2B5EF4-FFF2-40B4-BE49-F238E27FC236}">
                <a16:creationId xmlns:a16="http://schemas.microsoft.com/office/drawing/2014/main" id="{9EAF87E9-C152-AA16-D994-A8F7BFC03651}"/>
              </a:ext>
            </a:extLst>
          </p:cNvPr>
          <p:cNvPicPr>
            <a:picLocks noChangeAspect="1"/>
          </p:cNvPicPr>
          <p:nvPr/>
        </p:nvPicPr>
        <p:blipFill>
          <a:blip r:embed="rId9"/>
          <a:stretch>
            <a:fillRect/>
          </a:stretch>
        </p:blipFill>
        <p:spPr>
          <a:xfrm>
            <a:off x="4057824" y="23619631"/>
            <a:ext cx="5824242" cy="4291634"/>
          </a:xfrm>
          <a:prstGeom prst="rect">
            <a:avLst/>
          </a:prstGeom>
          <a:ln w="127000" cap="sq">
            <a:noFill/>
            <a:miter lim="800000"/>
          </a:ln>
          <a:effectLst>
            <a:outerShdw blurRad="57150" dist="50800" dir="2700000" algn="tl" rotWithShape="0">
              <a:srgbClr val="000000">
                <a:alpha val="40000"/>
              </a:srgbClr>
            </a:outerShdw>
          </a:effectLst>
        </p:spPr>
      </p:pic>
      <p:pic>
        <p:nvPicPr>
          <p:cNvPr id="6" name="Picture 5">
            <a:extLst>
              <a:ext uri="{FF2B5EF4-FFF2-40B4-BE49-F238E27FC236}">
                <a16:creationId xmlns:a16="http://schemas.microsoft.com/office/drawing/2014/main" id="{753208CB-2C74-4D84-A580-0EA84B07C804}"/>
              </a:ext>
            </a:extLst>
          </p:cNvPr>
          <p:cNvPicPr>
            <a:picLocks noChangeAspect="1"/>
          </p:cNvPicPr>
          <p:nvPr/>
        </p:nvPicPr>
        <p:blipFill rotWithShape="1">
          <a:blip r:embed="rId10">
            <a:extLst>
              <a:ext uri="{28A0092B-C50C-407E-A947-70E740481C1C}">
                <a14:useLocalDpi xmlns:a14="http://schemas.microsoft.com/office/drawing/2010/main" val="0"/>
              </a:ext>
            </a:extLst>
          </a:blip>
          <a:srcRect t="20940" b="16215"/>
          <a:stretch/>
        </p:blipFill>
        <p:spPr>
          <a:xfrm>
            <a:off x="14393189" y="20627345"/>
            <a:ext cx="2794435" cy="3122068"/>
          </a:xfrm>
          <a:prstGeom prst="rect">
            <a:avLst/>
          </a:prstGeom>
        </p:spPr>
      </p:pic>
      <p:pic>
        <p:nvPicPr>
          <p:cNvPr id="10" name="Picture 9">
            <a:extLst>
              <a:ext uri="{FF2B5EF4-FFF2-40B4-BE49-F238E27FC236}">
                <a16:creationId xmlns:a16="http://schemas.microsoft.com/office/drawing/2014/main" id="{0426FC8A-A007-432C-8381-BC9BE9ECD0AA}"/>
              </a:ext>
            </a:extLst>
          </p:cNvPr>
          <p:cNvPicPr>
            <a:picLocks noChangeAspect="1"/>
          </p:cNvPicPr>
          <p:nvPr/>
        </p:nvPicPr>
        <p:blipFill rotWithShape="1">
          <a:blip r:embed="rId11">
            <a:extLst>
              <a:ext uri="{28A0092B-C50C-407E-A947-70E740481C1C}">
                <a14:useLocalDpi xmlns:a14="http://schemas.microsoft.com/office/drawing/2010/main" val="0"/>
              </a:ext>
            </a:extLst>
          </a:blip>
          <a:srcRect t="10535" b="10535"/>
          <a:stretch/>
        </p:blipFill>
        <p:spPr>
          <a:xfrm>
            <a:off x="21491126" y="20627344"/>
            <a:ext cx="2224957" cy="3122069"/>
          </a:xfrm>
          <a:prstGeom prst="rect">
            <a:avLst/>
          </a:prstGeom>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552825" rtl="0" eaLnBrk="1" fontAlgn="base" latinLnBrk="0" hangingPunct="1">
          <a:lnSpc>
            <a:spcPct val="100000"/>
          </a:lnSpc>
          <a:spcBef>
            <a:spcPct val="0"/>
          </a:spcBef>
          <a:spcAft>
            <a:spcPct val="0"/>
          </a:spcAft>
          <a:buClrTx/>
          <a:buSzTx/>
          <a:buFontTx/>
          <a:buNone/>
          <a:tabLst/>
          <a:defRPr kumimoji="0" lang="en-US" sz="70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552825" rtl="0" eaLnBrk="1" fontAlgn="base" latinLnBrk="0" hangingPunct="1">
          <a:lnSpc>
            <a:spcPct val="100000"/>
          </a:lnSpc>
          <a:spcBef>
            <a:spcPct val="0"/>
          </a:spcBef>
          <a:spcAft>
            <a:spcPct val="0"/>
          </a:spcAft>
          <a:buClrTx/>
          <a:buSzTx/>
          <a:buFontTx/>
          <a:buNone/>
          <a:tabLst/>
          <a:defRPr kumimoji="0" lang="en-US" sz="70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955</Words>
  <Application>Microsoft Office PowerPoint</Application>
  <PresentationFormat>Custom</PresentationFormat>
  <Paragraphs>82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Cambria Math</vt:lpstr>
      <vt:lpstr>Times New Roman</vt:lpstr>
      <vt:lpstr>Default Design</vt:lpstr>
      <vt:lpstr>ProxiVault: Where Movement Triggers Mayhem, Until You Scan In</vt:lpstr>
    </vt:vector>
  </TitlesOfParts>
  <Company>Oakland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Microelectronics…</dc:title>
  <dc:creator>jsearigh</dc:creator>
  <cp:lastModifiedBy>luke zora</cp:lastModifiedBy>
  <cp:revision>6</cp:revision>
  <dcterms:created xsi:type="dcterms:W3CDTF">2004-09-22T15:05:03Z</dcterms:created>
  <dcterms:modified xsi:type="dcterms:W3CDTF">2025-04-16T04:10:47Z</dcterms:modified>
</cp:coreProperties>
</file>